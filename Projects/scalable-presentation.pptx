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Ubuntu"/>
      <p:regular r:id="rId29"/>
      <p:bold r:id="rId30"/>
      <p:italic r:id="rId31"/>
      <p:boldItalic r:id="rId32"/>
    </p:embeddedFont>
    <p:embeddedFont>
      <p:font typeface="Nuni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C8D72A-DCF6-4A16-AEE8-12AB39BD3D50}">
  <a:tblStyle styleId="{CCC8D72A-DCF6-4A16-AEE8-12AB39BD3D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buntu-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buntu-italic.fntdata"/><Relationship Id="rId30" Type="http://schemas.openxmlformats.org/officeDocument/2006/relationships/font" Target="fonts/Ubuntu-bold.fntdata"/><Relationship Id="rId11" Type="http://schemas.openxmlformats.org/officeDocument/2006/relationships/slide" Target="slides/slide5.xml"/><Relationship Id="rId33" Type="http://schemas.openxmlformats.org/officeDocument/2006/relationships/font" Target="fonts/Nunito-regular.fntdata"/><Relationship Id="rId10" Type="http://schemas.openxmlformats.org/officeDocument/2006/relationships/slide" Target="slides/slide4.xml"/><Relationship Id="rId32" Type="http://schemas.openxmlformats.org/officeDocument/2006/relationships/font" Target="fonts/Ubuntu-boldItalic.fntdata"/><Relationship Id="rId13" Type="http://schemas.openxmlformats.org/officeDocument/2006/relationships/slide" Target="slides/slide7.xml"/><Relationship Id="rId35" Type="http://schemas.openxmlformats.org/officeDocument/2006/relationships/font" Target="fonts/Nunito-italic.fntdata"/><Relationship Id="rId12" Type="http://schemas.openxmlformats.org/officeDocument/2006/relationships/slide" Target="slides/slide6.xml"/><Relationship Id="rId34" Type="http://schemas.openxmlformats.org/officeDocument/2006/relationships/font" Target="fonts/Nunit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Nuni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5904df0b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5904df0b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c65904df0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c65904df0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demo of each feature here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c65904df0b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c65904df0b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(nested):</a:t>
            </a:r>
            <a:endParaRPr/>
          </a:p>
          <a:p>
            <a:pPr indent="-298450" lvl="0" marL="457200" rtl="0" algn="l">
              <a:spcBef>
                <a:spcPts val="0"/>
              </a:spcBef>
              <a:spcAft>
                <a:spcPts val="0"/>
              </a:spcAft>
              <a:buSzPts val="1100"/>
              <a:buChar char="●"/>
            </a:pPr>
            <a:r>
              <a:rPr lang="en"/>
              <a:t>Timeframes</a:t>
            </a:r>
            <a:endParaRPr/>
          </a:p>
          <a:p>
            <a:pPr indent="-298450" lvl="0" marL="457200" rtl="0" algn="l">
              <a:spcBef>
                <a:spcPts val="0"/>
              </a:spcBef>
              <a:spcAft>
                <a:spcPts val="0"/>
              </a:spcAft>
              <a:buSzPts val="1100"/>
              <a:buChar char="●"/>
            </a:pPr>
            <a:r>
              <a:rPr lang="en"/>
              <a:t>Users (participants)</a:t>
            </a:r>
            <a:endParaRPr/>
          </a:p>
          <a:p>
            <a:pPr indent="-298450" lvl="0" marL="457200" rtl="0" algn="l">
              <a:spcBef>
                <a:spcPts val="0"/>
              </a:spcBef>
              <a:spcAft>
                <a:spcPts val="0"/>
              </a:spcAft>
              <a:buSzPts val="1100"/>
              <a:buChar char="●"/>
            </a:pPr>
            <a:r>
              <a:rPr lang="en"/>
              <a:t>Polls</a:t>
            </a:r>
            <a:endParaRPr/>
          </a:p>
          <a:p>
            <a:pPr indent="-298450" lvl="0" marL="457200" rtl="0" algn="l">
              <a:spcBef>
                <a:spcPts val="0"/>
              </a:spcBef>
              <a:spcAft>
                <a:spcPts val="0"/>
              </a:spcAft>
              <a:buSzPts val="1100"/>
              <a:buChar char="●"/>
            </a:pPr>
            <a:r>
              <a:rPr lang="en"/>
              <a:t>Comments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Top level model is the poll object, which has users nested underneath it.</a:t>
            </a:r>
            <a:endParaRPr/>
          </a:p>
          <a:p>
            <a:pPr indent="0" lvl="0" marL="0" rtl="0" algn="l">
              <a:spcBef>
                <a:spcPts val="0"/>
              </a:spcBef>
              <a:spcAft>
                <a:spcPts val="0"/>
              </a:spcAft>
              <a:buNone/>
            </a:pPr>
            <a:r>
              <a:rPr lang="en"/>
              <a:t>Users own timeframes and comments, and comments are accessible to the poll via the user.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c65904df0b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c65904df0b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c65904df0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c65904df0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wanted to set up our db with </a:t>
            </a:r>
            <a:r>
              <a:rPr lang="en"/>
              <a:t>existing polls and users to better replicate real world loads.</a:t>
            </a:r>
            <a:endParaRPr/>
          </a:p>
          <a:p>
            <a:pPr indent="-298450" lvl="0" marL="457200" rtl="0" algn="l">
              <a:spcBef>
                <a:spcPts val="0"/>
              </a:spcBef>
              <a:spcAft>
                <a:spcPts val="0"/>
              </a:spcAft>
              <a:buSzPts val="1100"/>
              <a:buChar char="●"/>
            </a:pPr>
            <a:r>
              <a:rPr lang="en"/>
              <a:t>Set up a framework to randomly access users and polls in our load tests</a:t>
            </a:r>
            <a:endParaRPr/>
          </a:p>
          <a:p>
            <a:pPr indent="-298450" lvl="0" marL="457200" rtl="0" algn="l">
              <a:spcBef>
                <a:spcPts val="0"/>
              </a:spcBef>
              <a:spcAft>
                <a:spcPts val="0"/>
              </a:spcAft>
              <a:buSzPts val="1100"/>
              <a:buChar char="●"/>
            </a:pPr>
            <a:r>
              <a:rPr lang="en"/>
              <a:t>Defined 6 transactions, which is defined as atomic operation in Tsung.</a:t>
            </a:r>
            <a:endParaRPr/>
          </a:p>
          <a:p>
            <a:pPr indent="-298450" lvl="0" marL="457200" rtl="0" algn="l">
              <a:spcBef>
                <a:spcPts val="0"/>
              </a:spcBef>
              <a:spcAft>
                <a:spcPts val="0"/>
              </a:spcAft>
              <a:buSzPts val="1100"/>
              <a:buChar char="●"/>
            </a:pPr>
            <a:r>
              <a:rPr lang="en"/>
              <a:t>We then defined a session as a workflow consisting of multiple transactions.</a:t>
            </a:r>
            <a:endParaRPr/>
          </a:p>
          <a:p>
            <a:pPr indent="-298450" lvl="0" marL="457200" rtl="0" algn="l">
              <a:spcBef>
                <a:spcPts val="0"/>
              </a:spcBef>
              <a:spcAft>
                <a:spcPts val="0"/>
              </a:spcAft>
              <a:buSzPts val="1100"/>
              <a:buChar char="●"/>
            </a:pPr>
            <a:r>
              <a:rPr lang="en"/>
              <a:t>Here are the main workflows we identified to be the most realistic when using our application.</a:t>
            </a:r>
            <a:endParaRPr/>
          </a:p>
          <a:p>
            <a:pPr indent="-298450" lvl="0" marL="457200" rtl="0" algn="l">
              <a:spcBef>
                <a:spcPts val="0"/>
              </a:spcBef>
              <a:spcAft>
                <a:spcPts val="0"/>
              </a:spcAft>
              <a:buSzPts val="1100"/>
              <a:buChar char="●"/>
            </a:pPr>
            <a:r>
              <a:rPr lang="en"/>
              <a:t>You can see here that session 6 has a much greater weight compared to the others. This is because this user workflow would be the most common in our app.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65904df0b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65904df0b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Workflow</a:t>
            </a:r>
            <a:r>
              <a:rPr lang="en"/>
              <a:t> 6 - view poll is used as our point of reference for most of the performance measurements</a:t>
            </a:r>
            <a:endParaRPr/>
          </a:p>
          <a:p>
            <a:pPr indent="-298450" lvl="0" marL="457200" rtl="0" algn="l">
              <a:spcBef>
                <a:spcPts val="0"/>
              </a:spcBef>
              <a:spcAft>
                <a:spcPts val="0"/>
              </a:spcAft>
              <a:buSzPts val="1100"/>
              <a:buChar char="●"/>
            </a:pPr>
            <a:r>
              <a:rPr lang="en">
                <a:solidFill>
                  <a:schemeClr val="dk1"/>
                </a:solidFill>
              </a:rPr>
              <a:t>502 is an upstream error, implies database throttling/overloading at that load</a:t>
            </a:r>
            <a:endParaRPr/>
          </a:p>
          <a:p>
            <a:pPr indent="-298450" lvl="1" marL="914400" rtl="0" algn="l">
              <a:spcBef>
                <a:spcPts val="0"/>
              </a:spcBef>
              <a:spcAft>
                <a:spcPts val="0"/>
              </a:spcAft>
              <a:buSzPts val="1100"/>
              <a:buChar char="○"/>
            </a:pPr>
            <a:r>
              <a:rPr lang="en"/>
              <a:t>Return 502 errors </a:t>
            </a:r>
            <a:r>
              <a:rPr lang="en"/>
              <a:t>around</a:t>
            </a:r>
            <a:r>
              <a:rPr lang="en"/>
              <a:t> the same time we reach the highest transaction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65904df0b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65904df0b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65904df0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65904df0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65904df0b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65904df0b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why it didnt work</a:t>
            </a:r>
            <a:endParaRPr/>
          </a:p>
          <a:p>
            <a:pPr indent="0" lvl="0" marL="0" rtl="0" algn="l">
              <a:spcBef>
                <a:spcPts val="0"/>
              </a:spcBef>
              <a:spcAft>
                <a:spcPts val="0"/>
              </a:spcAft>
              <a:buNone/>
            </a:pP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c65904df0b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c65904df0b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65904df0b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c65904df0b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c65904df0b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c65904df0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c65904df0b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c65904df0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c65904df0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c65904df0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c8659137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c8659137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c65904df0b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c65904df0b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c8863314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c8863314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Added 2 extra phases with 256 and 512 users/sec</a:t>
            </a:r>
            <a:endParaRPr/>
          </a:p>
          <a:p>
            <a:pPr indent="0" lvl="0" marL="0" rtl="0" algn="l">
              <a:spcBef>
                <a:spcPts val="0"/>
              </a:spcBef>
              <a:spcAft>
                <a:spcPts val="0"/>
              </a:spcAft>
              <a:buNone/>
            </a:pPr>
            <a:r>
              <a:rPr lang="en"/>
              <a:t>Tried vertically scaling with all code optimization</a:t>
            </a:r>
            <a:endParaRPr/>
          </a:p>
          <a:p>
            <a:pPr indent="0" lvl="0" marL="0" rtl="0" algn="l">
              <a:spcBef>
                <a:spcPts val="0"/>
              </a:spcBef>
              <a:spcAft>
                <a:spcPts val="0"/>
              </a:spcAft>
              <a:buNone/>
            </a:pPr>
            <a:r>
              <a:rPr lang="en"/>
              <a:t>4xlarge app server, large db could support 128 users/sec before transaction time spiked and we saw errors</a:t>
            </a:r>
            <a:endParaRPr/>
          </a:p>
          <a:p>
            <a:pPr indent="0" lvl="0" marL="0" rtl="0" algn="l">
              <a:spcBef>
                <a:spcPts val="0"/>
              </a:spcBef>
              <a:spcAft>
                <a:spcPts val="0"/>
              </a:spcAft>
              <a:buNone/>
            </a:pPr>
            <a:r>
              <a:rPr lang="en"/>
              <a:t>8xlarge app server, 2xlarge db and 12xlarge app, 4xlarge db could </a:t>
            </a:r>
            <a:r>
              <a:rPr lang="en"/>
              <a:t>support</a:t>
            </a:r>
            <a:r>
              <a:rPr lang="en"/>
              <a:t> 256 users/sec </a:t>
            </a:r>
            <a:r>
              <a:rPr lang="en">
                <a:solidFill>
                  <a:schemeClr val="dk1"/>
                </a:solidFill>
              </a:rPr>
              <a:t>before transaction time spiked and we saw errors</a:t>
            </a:r>
            <a:endParaRPr>
              <a:solidFill>
                <a:schemeClr val="dk1"/>
              </a:solidFill>
            </a:endParaRPr>
          </a:p>
          <a:p>
            <a:pPr indent="0" lvl="0" marL="0" rtl="0" algn="l">
              <a:spcBef>
                <a:spcPts val="0"/>
              </a:spcBef>
              <a:spcAft>
                <a:spcPts val="0"/>
              </a:spcAft>
              <a:buNone/>
            </a:pPr>
            <a:r>
              <a:rPr lang="en">
                <a:solidFill>
                  <a:schemeClr val="dk1"/>
                </a:solidFill>
              </a:rPr>
              <a:t>Not worth it to go up to 12xlarge app 4xlarge db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8863314e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8863314e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Tried horizontal with vertical and code optimization, all using 8 app servers</a:t>
            </a:r>
            <a:endParaRPr/>
          </a:p>
          <a:p>
            <a:pPr indent="0" lvl="0" marL="0" rtl="0" algn="l">
              <a:spcBef>
                <a:spcPts val="0"/>
              </a:spcBef>
              <a:spcAft>
                <a:spcPts val="0"/>
              </a:spcAft>
              <a:buNone/>
            </a:pPr>
            <a:r>
              <a:rPr lang="en"/>
              <a:t>Large app servers and large db </a:t>
            </a:r>
            <a:r>
              <a:rPr lang="en"/>
              <a:t>could support 128 users/sec before transaction time spiked and we saw errors</a:t>
            </a:r>
            <a:endParaRPr/>
          </a:p>
          <a:p>
            <a:pPr indent="0" lvl="0" marL="0" rtl="0" algn="l">
              <a:spcBef>
                <a:spcPts val="0"/>
              </a:spcBef>
              <a:spcAft>
                <a:spcPts val="0"/>
              </a:spcAft>
              <a:buNone/>
            </a:pPr>
            <a:r>
              <a:rPr lang="en"/>
              <a:t>Xlarge app servers and 2xlarge db could support 256 users/sec before transaction time spiked and we saw errors</a:t>
            </a:r>
            <a:endParaRPr/>
          </a:p>
          <a:p>
            <a:pPr indent="0" lvl="0" marL="0" rtl="0" algn="l">
              <a:spcBef>
                <a:spcPts val="0"/>
              </a:spcBef>
              <a:spcAft>
                <a:spcPts val="0"/>
              </a:spcAft>
              <a:buNone/>
            </a:pPr>
            <a:r>
              <a:rPr lang="en"/>
              <a:t>2xlarge app servers and 4xlarge db could support 512 users/sec before transaction time spiked and we saw errors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c8863314e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c8863314e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Cost analysis of combining horizontal and vertical scaling with code optimization</a:t>
            </a:r>
            <a:endParaRPr/>
          </a:p>
          <a:p>
            <a:pPr indent="0" lvl="0" marL="0" rtl="0" algn="l">
              <a:spcBef>
                <a:spcPts val="0"/>
              </a:spcBef>
              <a:spcAft>
                <a:spcPts val="0"/>
              </a:spcAft>
              <a:buNone/>
            </a:pPr>
            <a:r>
              <a:rPr lang="en"/>
              <a:t>We were able to see about double performance when scaling up, but the cost goes up more that double when we scale up m5.large to m5.2xlarge db (I’m not sure why they skipped xlarge db LOL)</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65904df0b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65904df0b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c87ddd38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c87ddd38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Learned a lot building with Ruby on Rails and AWS, and testing with Tsung</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Incrementally load tested, found caching and N+1 optimizations effective while pagination didn’t help much</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In the future, want to clean up UI and use a non-SQL database for better horizontal scaling</a:t>
            </a:r>
            <a:endParaRPr sz="1300">
              <a:solidFill>
                <a:srgbClr val="233A44"/>
              </a:solidFill>
              <a:latin typeface="Calibri"/>
              <a:ea typeface="Calibri"/>
              <a:cs typeface="Calibri"/>
              <a:sym typeface="Calibri"/>
            </a:endParaRPr>
          </a:p>
          <a:p>
            <a:pPr indent="0" lvl="0" marL="0" rtl="0" algn="l">
              <a:lnSpc>
                <a:spcPct val="115000"/>
              </a:lnSpc>
              <a:spcBef>
                <a:spcPts val="1200"/>
              </a:spcBef>
              <a:spcAft>
                <a:spcPts val="1200"/>
              </a:spcAft>
              <a:buNone/>
            </a:pPr>
            <a:r>
              <a:rPr lang="en" sz="1300">
                <a:solidFill>
                  <a:srgbClr val="233A44"/>
                </a:solidFill>
                <a:latin typeface="Calibri"/>
                <a:ea typeface="Calibri"/>
                <a:cs typeface="Calibri"/>
                <a:sym typeface="Calibri"/>
              </a:rPr>
              <a:t>****</a:t>
            </a:r>
            <a:endParaRPr sz="1300">
              <a:solidFill>
                <a:srgbClr val="233A44"/>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742451" y="1642150"/>
            <a:ext cx="7872000" cy="1011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000"/>
              <a:t>CS 291A - Scalable Internet Services</a:t>
            </a:r>
            <a:endParaRPr sz="3000"/>
          </a:p>
        </p:txBody>
      </p:sp>
      <p:sp>
        <p:nvSpPr>
          <p:cNvPr id="129" name="Google Shape;129;p13"/>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t>Team AZ Fan Club</a:t>
            </a:r>
            <a:endParaRPr sz="2200"/>
          </a:p>
          <a:p>
            <a:pPr indent="0" lvl="0" marL="0" rtl="0" algn="ctr">
              <a:spcBef>
                <a:spcPts val="0"/>
              </a:spcBef>
              <a:spcAft>
                <a:spcPts val="0"/>
              </a:spcAft>
              <a:buNone/>
            </a:pPr>
            <a:r>
              <a:rPr lang="en"/>
              <a:t>Winter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Application Details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a:t>
            </a:r>
            <a:r>
              <a:rPr b="1" lang="en"/>
              <a:t>schedule.me</a:t>
            </a:r>
            <a:r>
              <a:rPr lang="en"/>
              <a:t>?</a:t>
            </a:r>
            <a:endParaRPr/>
          </a:p>
        </p:txBody>
      </p:sp>
      <p:sp>
        <p:nvSpPr>
          <p:cNvPr id="140" name="Google Shape;140;p15"/>
          <p:cNvSpPr txBox="1"/>
          <p:nvPr>
            <p:ph idx="1" type="body"/>
          </p:nvPr>
        </p:nvSpPr>
        <p:spPr>
          <a:xfrm>
            <a:off x="819150" y="1649725"/>
            <a:ext cx="7669800" cy="28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schedule.me </a:t>
            </a:r>
            <a:r>
              <a:rPr lang="en" sz="1700"/>
              <a:t>enables </a:t>
            </a:r>
            <a:r>
              <a:rPr lang="en" sz="1700"/>
              <a:t>groups to find the most optimal times to meet based on each member’s availability.</a:t>
            </a:r>
            <a:endParaRPr sz="1700"/>
          </a:p>
          <a:p>
            <a:pPr indent="-330200" lvl="0" marL="457200" rtl="0" algn="l">
              <a:spcBef>
                <a:spcPts val="1200"/>
              </a:spcBef>
              <a:spcAft>
                <a:spcPts val="0"/>
              </a:spcAft>
              <a:buSzPts val="1600"/>
              <a:buChar char="●"/>
            </a:pPr>
            <a:r>
              <a:rPr lang="en" sz="1600"/>
              <a:t>Main </a:t>
            </a:r>
            <a:r>
              <a:rPr lang="en" sz="1600"/>
              <a:t>features</a:t>
            </a:r>
            <a:r>
              <a:rPr lang="en" sz="1600"/>
              <a:t>:</a:t>
            </a:r>
            <a:endParaRPr sz="1600"/>
          </a:p>
          <a:p>
            <a:pPr indent="-317500" lvl="1" marL="914400" rtl="0" algn="l">
              <a:spcBef>
                <a:spcPts val="0"/>
              </a:spcBef>
              <a:spcAft>
                <a:spcPts val="0"/>
              </a:spcAft>
              <a:buSzPts val="1400"/>
              <a:buChar char="○"/>
            </a:pPr>
            <a:r>
              <a:rPr lang="en" sz="1400"/>
              <a:t>View all polls</a:t>
            </a:r>
            <a:endParaRPr sz="1400"/>
          </a:p>
          <a:p>
            <a:pPr indent="-317500" lvl="1" marL="914400" rtl="0" algn="l">
              <a:spcBef>
                <a:spcPts val="0"/>
              </a:spcBef>
              <a:spcAft>
                <a:spcPts val="0"/>
              </a:spcAft>
              <a:buSzPts val="1400"/>
              <a:buChar char="○"/>
            </a:pPr>
            <a:r>
              <a:rPr lang="en" sz="1400"/>
              <a:t>Create a new poll</a:t>
            </a:r>
            <a:endParaRPr sz="1400"/>
          </a:p>
          <a:p>
            <a:pPr indent="-317500" lvl="1" marL="914400" rtl="0" algn="l">
              <a:spcBef>
                <a:spcPts val="0"/>
              </a:spcBef>
              <a:spcAft>
                <a:spcPts val="0"/>
              </a:spcAft>
              <a:buSzPts val="1400"/>
              <a:buChar char="○"/>
            </a:pPr>
            <a:r>
              <a:rPr lang="en" sz="1400"/>
              <a:t>Poll details</a:t>
            </a:r>
            <a:endParaRPr sz="1400"/>
          </a:p>
          <a:p>
            <a:pPr indent="-317500" lvl="1" marL="914400" rtl="0" algn="l">
              <a:spcBef>
                <a:spcPts val="0"/>
              </a:spcBef>
              <a:spcAft>
                <a:spcPts val="0"/>
              </a:spcAft>
              <a:buSzPts val="1400"/>
              <a:buChar char="○"/>
            </a:pPr>
            <a:r>
              <a:rPr lang="en" sz="1400"/>
              <a:t>Add participant to a poll</a:t>
            </a:r>
            <a:endParaRPr sz="1400"/>
          </a:p>
          <a:p>
            <a:pPr indent="-317500" lvl="1" marL="914400" rtl="0" algn="l">
              <a:spcBef>
                <a:spcPts val="0"/>
              </a:spcBef>
              <a:spcAft>
                <a:spcPts val="0"/>
              </a:spcAft>
              <a:buSzPts val="1400"/>
              <a:buChar char="○"/>
            </a:pPr>
            <a:r>
              <a:rPr lang="en" sz="1400"/>
              <a:t>Optimal time frame selection</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type="title"/>
          </p:nvPr>
        </p:nvSpPr>
        <p:spPr>
          <a:xfrm>
            <a:off x="639650" y="2056788"/>
            <a:ext cx="3120300" cy="1029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600"/>
              <a:t>Under the hood</a:t>
            </a:r>
            <a:r>
              <a:rPr lang="en" sz="2600"/>
              <a:t>😳</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t/>
            </a:r>
            <a:endParaRPr sz="2600"/>
          </a:p>
        </p:txBody>
      </p:sp>
      <p:pic>
        <p:nvPicPr>
          <p:cNvPr id="146" name="Google Shape;146;p16"/>
          <p:cNvPicPr preferRelativeResize="0"/>
          <p:nvPr/>
        </p:nvPicPr>
        <p:blipFill rotWithShape="1">
          <a:blip r:embed="rId3">
            <a:alphaModFix/>
          </a:blip>
          <a:srcRect b="0" l="1797" r="0" t="0"/>
          <a:stretch/>
        </p:blipFill>
        <p:spPr>
          <a:xfrm>
            <a:off x="3418950" y="399738"/>
            <a:ext cx="5374925" cy="43440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Load testing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title"/>
          </p:nvPr>
        </p:nvSpPr>
        <p:spPr>
          <a:xfrm>
            <a:off x="819150" y="4797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Setup</a:t>
            </a:r>
            <a:endParaRPr/>
          </a:p>
        </p:txBody>
      </p:sp>
      <p:sp>
        <p:nvSpPr>
          <p:cNvPr id="157" name="Google Shape;157;p18"/>
          <p:cNvSpPr txBox="1"/>
          <p:nvPr>
            <p:ph idx="1" type="body"/>
          </p:nvPr>
        </p:nvSpPr>
        <p:spPr>
          <a:xfrm>
            <a:off x="819150" y="1147075"/>
            <a:ext cx="3813600" cy="3510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100" u="sng"/>
              <a:t>Seeding</a:t>
            </a:r>
            <a:r>
              <a:rPr lang="en" sz="2100" u="sng"/>
              <a:t>🌱</a:t>
            </a:r>
            <a:r>
              <a:rPr lang="en" sz="2100"/>
              <a:t>:</a:t>
            </a:r>
            <a:endParaRPr sz="2100"/>
          </a:p>
          <a:p>
            <a:pPr indent="-336550" lvl="1" marL="914400" rtl="0" algn="l">
              <a:spcBef>
                <a:spcPts val="1200"/>
              </a:spcBef>
              <a:spcAft>
                <a:spcPts val="0"/>
              </a:spcAft>
              <a:buSzPts val="1700"/>
              <a:buChar char="○"/>
            </a:pPr>
            <a:r>
              <a:rPr lang="en" sz="1700"/>
              <a:t>1,000 polls</a:t>
            </a:r>
            <a:endParaRPr sz="1700"/>
          </a:p>
          <a:p>
            <a:pPr indent="-336550" lvl="1" marL="914400" rtl="0" algn="l">
              <a:spcBef>
                <a:spcPts val="0"/>
              </a:spcBef>
              <a:spcAft>
                <a:spcPts val="0"/>
              </a:spcAft>
              <a:buSzPts val="1700"/>
              <a:buChar char="○"/>
            </a:pPr>
            <a:r>
              <a:rPr lang="en" sz="1700"/>
              <a:t>10,000 users</a:t>
            </a:r>
            <a:endParaRPr sz="1700"/>
          </a:p>
          <a:p>
            <a:pPr indent="-336550" lvl="1" marL="914400" rtl="0" algn="l">
              <a:spcBef>
                <a:spcPts val="0"/>
              </a:spcBef>
              <a:spcAft>
                <a:spcPts val="0"/>
              </a:spcAft>
              <a:buSzPts val="1700"/>
              <a:buChar char="○"/>
            </a:pPr>
            <a:r>
              <a:rPr lang="en" sz="1700"/>
              <a:t>10,000 comments </a:t>
            </a:r>
            <a:endParaRPr sz="1700"/>
          </a:p>
          <a:p>
            <a:pPr indent="-336550" lvl="1" marL="914400" rtl="0" algn="l">
              <a:spcBef>
                <a:spcPts val="0"/>
              </a:spcBef>
              <a:spcAft>
                <a:spcPts val="0"/>
              </a:spcAft>
              <a:buSzPts val="1700"/>
              <a:buChar char="○"/>
            </a:pPr>
            <a:r>
              <a:rPr lang="en" sz="1700"/>
              <a:t>20,000 timeframes</a:t>
            </a:r>
            <a:endParaRPr sz="1700"/>
          </a:p>
          <a:p>
            <a:pPr indent="0" lvl="0" marL="0" rtl="0" algn="l">
              <a:spcBef>
                <a:spcPts val="1200"/>
              </a:spcBef>
              <a:spcAft>
                <a:spcPts val="0"/>
              </a:spcAft>
              <a:buNone/>
            </a:pPr>
            <a:r>
              <a:rPr lang="en" sz="2100" u="sng"/>
              <a:t>Transactions💳</a:t>
            </a:r>
            <a:r>
              <a:rPr lang="en" sz="2100"/>
              <a:t>:</a:t>
            </a:r>
            <a:endParaRPr sz="2100"/>
          </a:p>
          <a:p>
            <a:pPr indent="-336550" lvl="1" marL="914400" rtl="0" algn="l">
              <a:spcBef>
                <a:spcPts val="1200"/>
              </a:spcBef>
              <a:spcAft>
                <a:spcPts val="0"/>
              </a:spcAft>
              <a:buSzPts val="1700"/>
              <a:buChar char="○"/>
            </a:pPr>
            <a:r>
              <a:rPr lang="en" sz="1700"/>
              <a:t>create_poll, create_user, create_timeframe, create_comment, view_poll, view_user</a:t>
            </a:r>
            <a:endParaRPr/>
          </a:p>
        </p:txBody>
      </p:sp>
      <p:sp>
        <p:nvSpPr>
          <p:cNvPr id="158" name="Google Shape;158;p18"/>
          <p:cNvSpPr txBox="1"/>
          <p:nvPr>
            <p:ph idx="1" type="body"/>
          </p:nvPr>
        </p:nvSpPr>
        <p:spPr>
          <a:xfrm>
            <a:off x="4387925" y="1147075"/>
            <a:ext cx="4181700" cy="3082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sz="2100" u="sng"/>
              <a:t>S</a:t>
            </a:r>
            <a:r>
              <a:rPr lang="en" sz="2100" u="sng"/>
              <a:t>essions</a:t>
            </a:r>
            <a:r>
              <a:rPr lang="en" sz="2100" u="sng"/>
              <a:t>📋</a:t>
            </a:r>
            <a:r>
              <a:rPr lang="en" sz="2100"/>
              <a:t>:</a:t>
            </a:r>
            <a:endParaRPr sz="2100"/>
          </a:p>
          <a:p>
            <a:pPr indent="-323850" lvl="0" marL="914400" rtl="0" algn="l">
              <a:spcBef>
                <a:spcPts val="1200"/>
              </a:spcBef>
              <a:spcAft>
                <a:spcPts val="0"/>
              </a:spcAft>
              <a:buSzPts val="1500"/>
              <a:buAutoNum type="arabicPeriod"/>
            </a:pPr>
            <a:r>
              <a:rPr b="1" lang="en" sz="1500"/>
              <a:t>Create poll </a:t>
            </a:r>
            <a:r>
              <a:rPr lang="en" sz="1500"/>
              <a:t>(weight 1)</a:t>
            </a:r>
            <a:endParaRPr sz="1500"/>
          </a:p>
          <a:p>
            <a:pPr indent="-323850" lvl="0" marL="914400" rtl="0" algn="l">
              <a:spcBef>
                <a:spcPts val="0"/>
              </a:spcBef>
              <a:spcAft>
                <a:spcPts val="0"/>
              </a:spcAft>
              <a:buSzPts val="1500"/>
              <a:buAutoNum type="arabicPeriod"/>
            </a:pPr>
            <a:r>
              <a:rPr b="1" lang="en" sz="1500"/>
              <a:t>Populate poll with users</a:t>
            </a:r>
            <a:r>
              <a:rPr lang="en" sz="1500"/>
              <a:t> (weight 1)</a:t>
            </a:r>
            <a:endParaRPr sz="1500"/>
          </a:p>
          <a:p>
            <a:pPr indent="-323850" lvl="0" marL="914400" rtl="0" algn="l">
              <a:spcBef>
                <a:spcPts val="0"/>
              </a:spcBef>
              <a:spcAft>
                <a:spcPts val="0"/>
              </a:spcAft>
              <a:buSzPts val="1500"/>
              <a:buAutoNum type="arabicPeriod"/>
            </a:pPr>
            <a:r>
              <a:rPr b="1" lang="en" sz="1500"/>
              <a:t>Create new user within a poll + enter their availability</a:t>
            </a:r>
            <a:r>
              <a:rPr lang="en" sz="1500"/>
              <a:t> (weight 1)</a:t>
            </a:r>
            <a:endParaRPr sz="1500"/>
          </a:p>
          <a:p>
            <a:pPr indent="-323850" lvl="0" marL="914400" rtl="0" algn="l">
              <a:spcBef>
                <a:spcPts val="0"/>
              </a:spcBef>
              <a:spcAft>
                <a:spcPts val="0"/>
              </a:spcAft>
              <a:buSzPts val="1500"/>
              <a:buAutoNum type="arabicPeriod"/>
            </a:pPr>
            <a:r>
              <a:rPr b="1" lang="en" sz="1500"/>
              <a:t>Existing user enters their availability</a:t>
            </a:r>
            <a:r>
              <a:rPr lang="en" sz="1500"/>
              <a:t> (weight 1)</a:t>
            </a:r>
            <a:endParaRPr sz="1500"/>
          </a:p>
          <a:p>
            <a:pPr indent="-323850" lvl="0" marL="914400" rtl="0" algn="l">
              <a:spcBef>
                <a:spcPts val="0"/>
              </a:spcBef>
              <a:spcAft>
                <a:spcPts val="0"/>
              </a:spcAft>
              <a:buSzPts val="1500"/>
              <a:buAutoNum type="arabicPeriod"/>
            </a:pPr>
            <a:r>
              <a:rPr b="1" lang="en" sz="1500"/>
              <a:t>User enters 1-10 comments</a:t>
            </a:r>
            <a:r>
              <a:rPr lang="en" sz="1500"/>
              <a:t> (weight 1)</a:t>
            </a:r>
            <a:endParaRPr sz="1500"/>
          </a:p>
          <a:p>
            <a:pPr indent="-323850" lvl="0" marL="914400" rtl="0" algn="l">
              <a:spcBef>
                <a:spcPts val="0"/>
              </a:spcBef>
              <a:spcAft>
                <a:spcPts val="0"/>
              </a:spcAft>
              <a:buSzPts val="1500"/>
              <a:buAutoNum type="arabicPeriod"/>
            </a:pPr>
            <a:r>
              <a:rPr b="1" lang="en" sz="1500"/>
              <a:t>User views a poll</a:t>
            </a:r>
            <a:r>
              <a:rPr lang="en" sz="1500"/>
              <a:t> </a:t>
            </a:r>
            <a:r>
              <a:rPr lang="en" sz="1500">
                <a:highlight>
                  <a:srgbClr val="FFFF00"/>
                </a:highlight>
              </a:rPr>
              <a:t>(weight 10)</a:t>
            </a:r>
            <a:endParaRPr sz="1500">
              <a:highlight>
                <a:srgbClr val="FF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496100" y="4059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a:t>
            </a:r>
            <a:endParaRPr/>
          </a:p>
        </p:txBody>
      </p:sp>
      <p:sp>
        <p:nvSpPr>
          <p:cNvPr id="164" name="Google Shape;164;p19"/>
          <p:cNvSpPr txBox="1"/>
          <p:nvPr>
            <p:ph idx="1" type="body"/>
          </p:nvPr>
        </p:nvSpPr>
        <p:spPr>
          <a:xfrm>
            <a:off x="2847125" y="507300"/>
            <a:ext cx="5857200" cy="751800"/>
          </a:xfrm>
          <a:prstGeom prst="rect">
            <a:avLst/>
          </a:prstGeom>
        </p:spPr>
        <p:txBody>
          <a:bodyPr anchorCtr="0" anchor="t" bIns="91425" lIns="91425" spcFirstLastPara="1" rIns="91425" wrap="square" tIns="91425">
            <a:normAutofit fontScale="77500" lnSpcReduction="20000"/>
          </a:bodyPr>
          <a:lstStyle/>
          <a:p>
            <a:pPr indent="-307340" lvl="0" marL="457200" rtl="0" algn="l">
              <a:spcBef>
                <a:spcPts val="0"/>
              </a:spcBef>
              <a:spcAft>
                <a:spcPts val="0"/>
              </a:spcAft>
              <a:buSzPct val="100000"/>
              <a:buChar char="●"/>
            </a:pPr>
            <a:r>
              <a:rPr lang="en" sz="1600"/>
              <a:t>Single </a:t>
            </a:r>
            <a:r>
              <a:rPr lang="en" sz="1600"/>
              <a:t>ec2 </a:t>
            </a:r>
            <a:r>
              <a:rPr b="1" lang="en" sz="1600"/>
              <a:t>m5.large</a:t>
            </a:r>
            <a:r>
              <a:rPr lang="en" sz="1600"/>
              <a:t> </a:t>
            </a:r>
            <a:r>
              <a:rPr lang="en" sz="1600"/>
              <a:t>instance</a:t>
            </a:r>
            <a:endParaRPr sz="1600"/>
          </a:p>
          <a:p>
            <a:pPr indent="-307340" lvl="0" marL="457200" rtl="0" algn="l">
              <a:spcBef>
                <a:spcPts val="0"/>
              </a:spcBef>
              <a:spcAft>
                <a:spcPts val="0"/>
              </a:spcAft>
              <a:buSzPct val="100000"/>
              <a:buChar char="●"/>
            </a:pPr>
            <a:r>
              <a:rPr lang="en" sz="1600"/>
              <a:t>7 arrival phases, each phase 60 sec.</a:t>
            </a:r>
            <a:endParaRPr sz="1600"/>
          </a:p>
          <a:p>
            <a:pPr indent="-307340" lvl="0" marL="457200" rtl="0" algn="l">
              <a:spcBef>
                <a:spcPts val="0"/>
              </a:spcBef>
              <a:spcAft>
                <a:spcPts val="0"/>
              </a:spcAft>
              <a:buSzPct val="100000"/>
              <a:buChar char="●"/>
            </a:pPr>
            <a:r>
              <a:rPr lang="en" sz="1600"/>
              <a:t>Begins with 2 users per second, doubles each subsequent phase</a:t>
            </a:r>
            <a:endParaRPr sz="1600"/>
          </a:p>
        </p:txBody>
      </p:sp>
      <p:pic>
        <p:nvPicPr>
          <p:cNvPr id="165" name="Google Shape;165;p19"/>
          <p:cNvPicPr preferRelativeResize="0"/>
          <p:nvPr/>
        </p:nvPicPr>
        <p:blipFill>
          <a:blip r:embed="rId3">
            <a:alphaModFix/>
          </a:blip>
          <a:stretch>
            <a:fillRect/>
          </a:stretch>
        </p:blipFill>
        <p:spPr>
          <a:xfrm>
            <a:off x="4607900" y="1418188"/>
            <a:ext cx="4328775" cy="3246556"/>
          </a:xfrm>
          <a:prstGeom prst="rect">
            <a:avLst/>
          </a:prstGeom>
          <a:noFill/>
          <a:ln>
            <a:noFill/>
          </a:ln>
        </p:spPr>
      </p:pic>
      <p:pic>
        <p:nvPicPr>
          <p:cNvPr id="166" name="Google Shape;166;p19"/>
          <p:cNvPicPr preferRelativeResize="0"/>
          <p:nvPr/>
        </p:nvPicPr>
        <p:blipFill>
          <a:blip r:embed="rId4">
            <a:alphaModFix/>
          </a:blip>
          <a:stretch>
            <a:fillRect/>
          </a:stretch>
        </p:blipFill>
        <p:spPr>
          <a:xfrm>
            <a:off x="243225" y="1418181"/>
            <a:ext cx="4328776" cy="32465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Optimizations </a:t>
            </a:r>
            <a:r>
              <a:rPr lang="en"/>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Caching</a:t>
            </a:r>
            <a:endParaRPr/>
          </a:p>
        </p:txBody>
      </p:sp>
      <p:sp>
        <p:nvSpPr>
          <p:cNvPr id="177" name="Google Shape;177;p21"/>
          <p:cNvSpPr txBox="1"/>
          <p:nvPr>
            <p:ph idx="1" type="body"/>
          </p:nvPr>
        </p:nvSpPr>
        <p:spPr>
          <a:xfrm>
            <a:off x="639675" y="1569475"/>
            <a:ext cx="3766200" cy="27999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In-memory in</a:t>
            </a:r>
            <a:r>
              <a:rPr lang="en" sz="1700"/>
              <a:t> application server (1024 MB)</a:t>
            </a:r>
            <a:endParaRPr sz="1700"/>
          </a:p>
          <a:p>
            <a:pPr indent="-336550" lvl="0" marL="457200" rtl="0" algn="l">
              <a:spcBef>
                <a:spcPts val="0"/>
              </a:spcBef>
              <a:spcAft>
                <a:spcPts val="0"/>
              </a:spcAft>
              <a:buSzPts val="1700"/>
              <a:buChar char="●"/>
            </a:pPr>
            <a:r>
              <a:rPr lang="en" sz="1700"/>
              <a:t>Russian Doll caching</a:t>
            </a:r>
            <a:endParaRPr sz="1900"/>
          </a:p>
          <a:p>
            <a:pPr indent="-323850" lvl="1" marL="914400" rtl="0" algn="l">
              <a:spcBef>
                <a:spcPts val="0"/>
              </a:spcBef>
              <a:spcAft>
                <a:spcPts val="0"/>
              </a:spcAft>
              <a:buSzPts val="1500"/>
              <a:buChar char="○"/>
            </a:pPr>
            <a:r>
              <a:rPr lang="en" sz="1500"/>
              <a:t>Poll views + associated users &amp; comments</a:t>
            </a:r>
            <a:endParaRPr sz="1500"/>
          </a:p>
          <a:p>
            <a:pPr indent="-323850" lvl="1" marL="914400" rtl="0" algn="l">
              <a:spcBef>
                <a:spcPts val="0"/>
              </a:spcBef>
              <a:spcAft>
                <a:spcPts val="0"/>
              </a:spcAft>
              <a:buSzPts val="1500"/>
              <a:buChar char="○"/>
            </a:pPr>
            <a:r>
              <a:rPr lang="en" sz="1500"/>
              <a:t>Optimal time frame calculations</a:t>
            </a:r>
            <a:endParaRPr sz="1500"/>
          </a:p>
          <a:p>
            <a:pPr indent="-336550" lvl="0" marL="457200" rtl="0" algn="l">
              <a:spcBef>
                <a:spcPts val="0"/>
              </a:spcBef>
              <a:spcAft>
                <a:spcPts val="0"/>
              </a:spcAft>
              <a:buSzPts val="1700"/>
              <a:buChar char="●"/>
            </a:pPr>
            <a:r>
              <a:rPr lang="en" sz="1700"/>
              <a:t>Significant performance improvements✅</a:t>
            </a:r>
            <a:endParaRPr sz="1700"/>
          </a:p>
        </p:txBody>
      </p:sp>
      <p:pic>
        <p:nvPicPr>
          <p:cNvPr id="178" name="Google Shape;178;p21"/>
          <p:cNvPicPr preferRelativeResize="0"/>
          <p:nvPr/>
        </p:nvPicPr>
        <p:blipFill>
          <a:blip r:embed="rId3">
            <a:alphaModFix/>
          </a:blip>
          <a:stretch>
            <a:fillRect/>
          </a:stretch>
        </p:blipFill>
        <p:spPr>
          <a:xfrm>
            <a:off x="4572000" y="1588300"/>
            <a:ext cx="3819525" cy="276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Pagination</a:t>
            </a:r>
            <a:endParaRPr/>
          </a:p>
        </p:txBody>
      </p:sp>
      <p:sp>
        <p:nvSpPr>
          <p:cNvPr id="184" name="Google Shape;184;p22"/>
          <p:cNvSpPr txBox="1"/>
          <p:nvPr>
            <p:ph idx="1" type="body"/>
          </p:nvPr>
        </p:nvSpPr>
        <p:spPr>
          <a:xfrm>
            <a:off x="819150" y="1676575"/>
            <a:ext cx="3753000" cy="2762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Paginating </a:t>
            </a:r>
            <a:r>
              <a:rPr lang="en" sz="1700"/>
              <a:t>users and comments on on a given poll’s page</a:t>
            </a:r>
            <a:endParaRPr sz="1700"/>
          </a:p>
          <a:p>
            <a:pPr indent="-323850" lvl="1" marL="914400" rtl="0" algn="l">
              <a:spcBef>
                <a:spcPts val="0"/>
              </a:spcBef>
              <a:spcAft>
                <a:spcPts val="0"/>
              </a:spcAft>
              <a:buSzPts val="1500"/>
              <a:buChar char="○"/>
            </a:pPr>
            <a:r>
              <a:rPr lang="en" sz="1500"/>
              <a:t>Displays 5 users/polls per sub-page</a:t>
            </a:r>
            <a:endParaRPr sz="1500"/>
          </a:p>
          <a:p>
            <a:pPr indent="-336550" lvl="0" marL="457200" rtl="0" algn="l">
              <a:spcBef>
                <a:spcPts val="0"/>
              </a:spcBef>
              <a:spcAft>
                <a:spcPts val="0"/>
              </a:spcAft>
              <a:buSzPts val="1700"/>
              <a:buChar char="●"/>
            </a:pPr>
            <a:r>
              <a:rPr lang="en" sz="1700"/>
              <a:t>Little to no improvements😫</a:t>
            </a:r>
            <a:endParaRPr sz="1700"/>
          </a:p>
        </p:txBody>
      </p:sp>
      <p:pic>
        <p:nvPicPr>
          <p:cNvPr id="185" name="Google Shape;185;p22"/>
          <p:cNvPicPr preferRelativeResize="0"/>
          <p:nvPr/>
        </p:nvPicPr>
        <p:blipFill>
          <a:blip r:embed="rId3">
            <a:alphaModFix/>
          </a:blip>
          <a:stretch>
            <a:fillRect/>
          </a:stretch>
        </p:blipFill>
        <p:spPr>
          <a:xfrm>
            <a:off x="4572000" y="1592575"/>
            <a:ext cx="3819525" cy="2762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894150" y="5494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N+1 Query Optimizations</a:t>
            </a:r>
            <a:endParaRPr sz="2700"/>
          </a:p>
        </p:txBody>
      </p:sp>
      <p:sp>
        <p:nvSpPr>
          <p:cNvPr id="191" name="Google Shape;191;p23"/>
          <p:cNvSpPr txBox="1"/>
          <p:nvPr>
            <p:ph idx="1" type="body"/>
          </p:nvPr>
        </p:nvSpPr>
        <p:spPr>
          <a:xfrm>
            <a:off x="894150" y="1211425"/>
            <a:ext cx="7684500" cy="33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Scenario 1: </a:t>
            </a:r>
            <a:r>
              <a:rPr lang="en" sz="1400"/>
              <a:t>Accessing a user’s time frames for (1) computing optimal timeframes and (2) rendering the polls page</a:t>
            </a:r>
            <a:endParaRPr sz="1400"/>
          </a:p>
          <a:p>
            <a:pPr indent="0" lvl="0" marL="0" rtl="0" algn="l">
              <a:spcBef>
                <a:spcPts val="1200"/>
              </a:spcBef>
              <a:spcAft>
                <a:spcPts val="0"/>
              </a:spcAft>
              <a:buNone/>
            </a:pPr>
            <a:r>
              <a:rPr lang="en" sz="1500" u="sng"/>
              <a:t>Original query:</a:t>
            </a:r>
            <a:endParaRPr sz="1500" u="sng"/>
          </a:p>
          <a:p>
            <a:pPr indent="0" lvl="0" marL="0" rtl="0" algn="l">
              <a:spcBef>
                <a:spcPts val="1200"/>
              </a:spcBef>
              <a:spcAft>
                <a:spcPts val="0"/>
              </a:spcAft>
              <a:buNone/>
            </a:pP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 $1 </a:t>
            </a:r>
            <a:r>
              <a:rPr b="1" lang="en" sz="1100">
                <a:solidFill>
                  <a:srgbClr val="005599"/>
                </a:solidFill>
                <a:latin typeface="Consolas"/>
                <a:ea typeface="Consolas"/>
                <a:cs typeface="Consolas"/>
                <a:sym typeface="Consolas"/>
              </a:rPr>
              <a:t>LIMIT</a:t>
            </a:r>
            <a:r>
              <a:rPr lang="en" sz="1100">
                <a:solidFill>
                  <a:srgbClr val="363C69"/>
                </a:solidFill>
                <a:latin typeface="Consolas"/>
                <a:ea typeface="Consolas"/>
                <a:cs typeface="Consolas"/>
                <a:sym typeface="Consolas"/>
              </a:rPr>
              <a:t> $2</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"poll_id"</a:t>
            </a:r>
            <a:r>
              <a:rPr lang="en" sz="1100">
                <a:solidFill>
                  <a:srgbClr val="363C69"/>
                </a:solidFill>
                <a:latin typeface="Consolas"/>
                <a:ea typeface="Consolas"/>
                <a:cs typeface="Consolas"/>
                <a:sym typeface="Consolas"/>
              </a:rPr>
              <a:t> = $1</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for</a:t>
            </a:r>
            <a:r>
              <a:rPr lang="en" sz="1100">
                <a:solidFill>
                  <a:srgbClr val="363C69"/>
                </a:solidFill>
                <a:latin typeface="Consolas"/>
                <a:ea typeface="Consolas"/>
                <a:cs typeface="Consolas"/>
                <a:sym typeface="Consolas"/>
              </a:rPr>
              <a:t> user_id:</a:t>
            </a:r>
            <a:br>
              <a:rPr lang="en" sz="1100">
                <a:solidFill>
                  <a:srgbClr val="363C69"/>
                </a:solidFill>
                <a:latin typeface="Consolas"/>
                <a:ea typeface="Consolas"/>
                <a:cs typeface="Consolas"/>
                <a:sym typeface="Consolas"/>
              </a:rPr>
            </a:b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"user_id"</a:t>
            </a:r>
            <a:r>
              <a:rPr lang="en" sz="1100">
                <a:solidFill>
                  <a:srgbClr val="363C69"/>
                </a:solidFill>
                <a:latin typeface="Consolas"/>
                <a:ea typeface="Consolas"/>
                <a:cs typeface="Consolas"/>
                <a:sym typeface="Consolas"/>
              </a:rPr>
              <a:t> = $1</a:t>
            </a:r>
            <a:endParaRPr sz="1100">
              <a:solidFill>
                <a:srgbClr val="363C69"/>
              </a:solidFill>
              <a:latin typeface="Consolas"/>
              <a:ea typeface="Consolas"/>
              <a:cs typeface="Consolas"/>
              <a:sym typeface="Consolas"/>
            </a:endParaRPr>
          </a:p>
          <a:p>
            <a:pPr indent="0" lvl="0" marL="0" rtl="0" algn="l">
              <a:spcBef>
                <a:spcPts val="0"/>
              </a:spcBef>
              <a:spcAft>
                <a:spcPts val="0"/>
              </a:spcAft>
              <a:buNone/>
            </a:pPr>
            <a:r>
              <a:t/>
            </a:r>
            <a:endParaRPr sz="1100">
              <a:solidFill>
                <a:srgbClr val="363C69"/>
              </a:solidFill>
              <a:latin typeface="Consolas"/>
              <a:ea typeface="Consolas"/>
              <a:cs typeface="Consolas"/>
              <a:sym typeface="Consolas"/>
            </a:endParaRPr>
          </a:p>
          <a:p>
            <a:pPr indent="0" lvl="0" marL="0" rtl="0" algn="l">
              <a:spcBef>
                <a:spcPts val="0"/>
              </a:spcBef>
              <a:spcAft>
                <a:spcPts val="0"/>
              </a:spcAft>
              <a:buNone/>
            </a:pPr>
            <a:r>
              <a:rPr lang="en" sz="1500" u="sng"/>
              <a:t>Optimized</a:t>
            </a:r>
            <a:r>
              <a:rPr lang="en" sz="1500" u="sng"/>
              <a:t> query:</a:t>
            </a:r>
            <a:endParaRPr sz="1500" u="sng"/>
          </a:p>
          <a:p>
            <a:pPr indent="0" lvl="0" marL="0" rtl="0" algn="l">
              <a:spcBef>
                <a:spcPts val="1200"/>
              </a:spcBef>
              <a:spcAft>
                <a:spcPts val="0"/>
              </a:spcAft>
              <a:buNone/>
            </a:pP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 WHRE </a:t>
            </a:r>
            <a:r>
              <a:rPr lang="en" sz="1100">
                <a:solidFill>
                  <a:srgbClr val="2C009F"/>
                </a:solidFill>
                <a:latin typeface="Consolas"/>
                <a:ea typeface="Consolas"/>
                <a:cs typeface="Consolas"/>
                <a:sym typeface="Consolas"/>
              </a:rPr>
              <a:t>"polls"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 $1 </a:t>
            </a:r>
            <a:r>
              <a:rPr b="1" lang="en" sz="1100">
                <a:solidFill>
                  <a:srgbClr val="005599"/>
                </a:solidFill>
                <a:latin typeface="Consolas"/>
                <a:ea typeface="Consolas"/>
                <a:cs typeface="Consolas"/>
                <a:sym typeface="Consolas"/>
              </a:rPr>
              <a:t>LIMIT</a:t>
            </a:r>
            <a:r>
              <a:rPr lang="en" sz="1100">
                <a:solidFill>
                  <a:srgbClr val="363C69"/>
                </a:solidFill>
                <a:latin typeface="Consolas"/>
                <a:ea typeface="Consolas"/>
                <a:cs typeface="Consolas"/>
                <a:sym typeface="Consolas"/>
              </a:rPr>
              <a:t> $2</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"poll_id"</a:t>
            </a:r>
            <a:r>
              <a:rPr lang="en" sz="1100">
                <a:solidFill>
                  <a:srgbClr val="363C69"/>
                </a:solidFill>
                <a:latin typeface="Consolas"/>
                <a:ea typeface="Consolas"/>
                <a:cs typeface="Consolas"/>
                <a:sym typeface="Consolas"/>
              </a:rPr>
              <a:t> = $1</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"time_frames"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"user_id"</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in</a:t>
            </a:r>
            <a:r>
              <a:rPr lang="en" sz="1100">
                <a:solidFill>
                  <a:srgbClr val="363C69"/>
                </a:solidFill>
                <a:latin typeface="Consolas"/>
                <a:ea typeface="Consolas"/>
                <a:cs typeface="Consolas"/>
                <a:sym typeface="Consolas"/>
              </a:rPr>
              <a:t> ($1, $2, ...)</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894150" y="5494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N+1 Query Optimizations (cont.)</a:t>
            </a:r>
            <a:endParaRPr sz="2700"/>
          </a:p>
        </p:txBody>
      </p:sp>
      <p:sp>
        <p:nvSpPr>
          <p:cNvPr id="197" name="Google Shape;197;p24"/>
          <p:cNvSpPr txBox="1"/>
          <p:nvPr>
            <p:ph idx="1" type="body"/>
          </p:nvPr>
        </p:nvSpPr>
        <p:spPr>
          <a:xfrm>
            <a:off x="894150" y="1211425"/>
            <a:ext cx="7684500" cy="33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Scenario 2: </a:t>
            </a:r>
            <a:r>
              <a:rPr lang="en" sz="1400"/>
              <a:t>Accessing the associated users for a given poll’s comments when rendering the poll’s page</a:t>
            </a:r>
            <a:endParaRPr sz="1400"/>
          </a:p>
          <a:p>
            <a:pPr indent="0" lvl="0" marL="0" rtl="0" algn="l">
              <a:spcBef>
                <a:spcPts val="1200"/>
              </a:spcBef>
              <a:spcAft>
                <a:spcPts val="0"/>
              </a:spcAft>
              <a:buNone/>
            </a:pPr>
            <a:r>
              <a:rPr lang="en" sz="1500" u="sng"/>
              <a:t>Original query:</a:t>
            </a:r>
            <a:endParaRPr sz="1500" u="sng"/>
          </a:p>
          <a:p>
            <a:pPr indent="0" lvl="0" marL="0" rtl="0" algn="l">
              <a:spcBef>
                <a:spcPts val="1200"/>
              </a:spcBef>
              <a:spcAft>
                <a:spcPts val="0"/>
              </a:spcAft>
              <a:buNone/>
            </a:pP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INNER</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JOIN</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ON</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"user_id"</a:t>
            </a:r>
            <a:r>
              <a:rPr lang="en" sz="1100">
                <a:solidFill>
                  <a:srgbClr val="363C69"/>
                </a:solidFill>
                <a:latin typeface="Consolas"/>
                <a:ea typeface="Consolas"/>
                <a:cs typeface="Consolas"/>
                <a:sym typeface="Consolas"/>
              </a:rPr>
              <a:t> =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"poll_id"</a:t>
            </a:r>
            <a:r>
              <a:rPr lang="en" sz="1100">
                <a:solidFill>
                  <a:srgbClr val="363C69"/>
                </a:solidFill>
                <a:latin typeface="Consolas"/>
                <a:ea typeface="Consolas"/>
                <a:cs typeface="Consolas"/>
                <a:sym typeface="Consolas"/>
              </a:rPr>
              <a:t> = $1</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for</a:t>
            </a:r>
            <a:r>
              <a:rPr lang="en" sz="1100">
                <a:solidFill>
                  <a:srgbClr val="363C69"/>
                </a:solidFill>
                <a:latin typeface="Consolas"/>
                <a:ea typeface="Consolas"/>
                <a:cs typeface="Consolas"/>
                <a:sym typeface="Consolas"/>
              </a:rPr>
              <a:t> user_id:</a:t>
            </a:r>
            <a:br>
              <a:rPr lang="en" sz="1100">
                <a:solidFill>
                  <a:srgbClr val="363C69"/>
                </a:solidFill>
                <a:latin typeface="Consolas"/>
                <a:ea typeface="Consolas"/>
                <a:cs typeface="Consolas"/>
                <a:sym typeface="Consolas"/>
              </a:rPr>
            </a:b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 $1 </a:t>
            </a:r>
            <a:r>
              <a:rPr b="1" lang="en" sz="1100">
                <a:solidFill>
                  <a:srgbClr val="005599"/>
                </a:solidFill>
                <a:latin typeface="Consolas"/>
                <a:ea typeface="Consolas"/>
                <a:cs typeface="Consolas"/>
                <a:sym typeface="Consolas"/>
              </a:rPr>
              <a:t>LIMIT</a:t>
            </a:r>
            <a:r>
              <a:rPr lang="en" sz="1100">
                <a:solidFill>
                  <a:srgbClr val="363C69"/>
                </a:solidFill>
                <a:latin typeface="Consolas"/>
                <a:ea typeface="Consolas"/>
                <a:cs typeface="Consolas"/>
                <a:sym typeface="Consolas"/>
              </a:rPr>
              <a:t> $2</a:t>
            </a:r>
            <a:endParaRPr sz="1100">
              <a:solidFill>
                <a:srgbClr val="363C69"/>
              </a:solidFill>
              <a:latin typeface="Consolas"/>
              <a:ea typeface="Consolas"/>
              <a:cs typeface="Consolas"/>
              <a:sym typeface="Consolas"/>
            </a:endParaRPr>
          </a:p>
          <a:p>
            <a:pPr indent="0" lvl="0" marL="0" rtl="0" algn="l">
              <a:spcBef>
                <a:spcPts val="0"/>
              </a:spcBef>
              <a:spcAft>
                <a:spcPts val="0"/>
              </a:spcAft>
              <a:buNone/>
            </a:pPr>
            <a:r>
              <a:t/>
            </a:r>
            <a:endParaRPr sz="1100">
              <a:solidFill>
                <a:srgbClr val="363C69"/>
              </a:solidFill>
              <a:latin typeface="Consolas"/>
              <a:ea typeface="Consolas"/>
              <a:cs typeface="Consolas"/>
              <a:sym typeface="Consolas"/>
            </a:endParaRPr>
          </a:p>
          <a:p>
            <a:pPr indent="0" lvl="0" marL="0" rtl="0" algn="l">
              <a:spcBef>
                <a:spcPts val="0"/>
              </a:spcBef>
              <a:spcAft>
                <a:spcPts val="0"/>
              </a:spcAft>
              <a:buNone/>
            </a:pPr>
            <a:r>
              <a:rPr lang="en" sz="1500" u="sng"/>
              <a:t>Optimized query:</a:t>
            </a:r>
            <a:endParaRPr sz="1500" u="sng"/>
          </a:p>
          <a:p>
            <a:pPr indent="0" lvl="0" marL="0" rtl="0" algn="l">
              <a:spcBef>
                <a:spcPts val="1200"/>
              </a:spcBef>
              <a:spcAft>
                <a:spcPts val="0"/>
              </a:spcAft>
              <a:buNone/>
            </a:pP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INNER</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JOIN</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ON</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"comments"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"user_id"</a:t>
            </a:r>
            <a:r>
              <a:rPr lang="en" sz="1100">
                <a:solidFill>
                  <a:srgbClr val="363C69"/>
                </a:solidFill>
                <a:latin typeface="Consolas"/>
                <a:ea typeface="Consolas"/>
                <a:cs typeface="Consolas"/>
                <a:sym typeface="Consolas"/>
              </a:rPr>
              <a:t> =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"poll_id"</a:t>
            </a:r>
            <a:r>
              <a:rPr lang="en" sz="1100">
                <a:solidFill>
                  <a:srgbClr val="363C69"/>
                </a:solidFill>
                <a:latin typeface="Consolas"/>
                <a:ea typeface="Consolas"/>
                <a:cs typeface="Consolas"/>
                <a:sym typeface="Consolas"/>
              </a:rPr>
              <a:t> = $1</a:t>
            </a:r>
            <a:br>
              <a:rPr lang="en" sz="1100">
                <a:solidFill>
                  <a:srgbClr val="363C69"/>
                </a:solidFill>
                <a:latin typeface="Consolas"/>
                <a:ea typeface="Consolas"/>
                <a:cs typeface="Consolas"/>
                <a:sym typeface="Consolas"/>
              </a:rPr>
            </a:br>
            <a:r>
              <a:rPr b="1" lang="en" sz="1100">
                <a:solidFill>
                  <a:srgbClr val="005599"/>
                </a:solidFill>
                <a:latin typeface="Consolas"/>
                <a:ea typeface="Consolas"/>
                <a:cs typeface="Consolas"/>
                <a:sym typeface="Consolas"/>
              </a:rPr>
              <a:t>SELECT</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FROM</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WHERE</a:t>
            </a:r>
            <a:r>
              <a:rPr lang="en" sz="1100">
                <a:solidFill>
                  <a:srgbClr val="363C69"/>
                </a:solidFill>
                <a:latin typeface="Consolas"/>
                <a:ea typeface="Consolas"/>
                <a:cs typeface="Consolas"/>
                <a:sym typeface="Consolas"/>
              </a:rPr>
              <a:t> </a:t>
            </a:r>
            <a:r>
              <a:rPr lang="en" sz="1100">
                <a:solidFill>
                  <a:srgbClr val="2C009F"/>
                </a:solidFill>
                <a:latin typeface="Consolas"/>
                <a:ea typeface="Consolas"/>
                <a:cs typeface="Consolas"/>
                <a:sym typeface="Consolas"/>
              </a:rPr>
              <a:t>"users"</a:t>
            </a:r>
            <a:r>
              <a:rPr lang="en" sz="1100">
                <a:solidFill>
                  <a:srgbClr val="363C69"/>
                </a:solidFill>
                <a:latin typeface="Consolas"/>
                <a:ea typeface="Consolas"/>
                <a:cs typeface="Consolas"/>
                <a:sym typeface="Consolas"/>
              </a:rPr>
              <a:t>.</a:t>
            </a:r>
            <a:r>
              <a:rPr lang="en" sz="1100">
                <a:solidFill>
                  <a:srgbClr val="2C009F"/>
                </a:solidFill>
                <a:latin typeface="Consolas"/>
                <a:ea typeface="Consolas"/>
                <a:cs typeface="Consolas"/>
                <a:sym typeface="Consolas"/>
              </a:rPr>
              <a:t>"id"</a:t>
            </a:r>
            <a:r>
              <a:rPr lang="en" sz="1100">
                <a:solidFill>
                  <a:srgbClr val="363C69"/>
                </a:solidFill>
                <a:latin typeface="Consolas"/>
                <a:ea typeface="Consolas"/>
                <a:cs typeface="Consolas"/>
                <a:sym typeface="Consolas"/>
              </a:rPr>
              <a:t> </a:t>
            </a:r>
            <a:r>
              <a:rPr b="1" lang="en" sz="1100">
                <a:solidFill>
                  <a:srgbClr val="005599"/>
                </a:solidFill>
                <a:latin typeface="Consolas"/>
                <a:ea typeface="Consolas"/>
                <a:cs typeface="Consolas"/>
                <a:sym typeface="Consolas"/>
              </a:rPr>
              <a:t>in</a:t>
            </a:r>
            <a:r>
              <a:rPr lang="en" sz="1100">
                <a:solidFill>
                  <a:srgbClr val="363C69"/>
                </a:solidFill>
                <a:latin typeface="Consolas"/>
                <a:ea typeface="Consolas"/>
                <a:cs typeface="Consolas"/>
                <a:sym typeface="Consolas"/>
              </a:rPr>
              <a:t> ($1, $2,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881950" y="544900"/>
            <a:ext cx="7505700" cy="608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N+1 Query Optimizations (cont.)</a:t>
            </a:r>
            <a:endParaRPr/>
          </a:p>
          <a:p>
            <a:pPr indent="0" lvl="0" marL="0" rtl="0" algn="l">
              <a:spcBef>
                <a:spcPts val="0"/>
              </a:spcBef>
              <a:spcAft>
                <a:spcPts val="0"/>
              </a:spcAft>
              <a:buNone/>
            </a:pPr>
            <a:r>
              <a:t/>
            </a:r>
            <a:endParaRPr/>
          </a:p>
        </p:txBody>
      </p:sp>
      <p:pic>
        <p:nvPicPr>
          <p:cNvPr id="203" name="Google Shape;203;p25"/>
          <p:cNvPicPr preferRelativeResize="0"/>
          <p:nvPr/>
        </p:nvPicPr>
        <p:blipFill>
          <a:blip r:embed="rId3">
            <a:alphaModFix/>
          </a:blip>
          <a:stretch>
            <a:fillRect/>
          </a:stretch>
        </p:blipFill>
        <p:spPr>
          <a:xfrm>
            <a:off x="558850" y="1579375"/>
            <a:ext cx="3977250" cy="2984975"/>
          </a:xfrm>
          <a:prstGeom prst="rect">
            <a:avLst/>
          </a:prstGeom>
          <a:noFill/>
          <a:ln>
            <a:noFill/>
          </a:ln>
        </p:spPr>
      </p:pic>
      <p:pic>
        <p:nvPicPr>
          <p:cNvPr id="204" name="Google Shape;204;p25"/>
          <p:cNvPicPr preferRelativeResize="0"/>
          <p:nvPr/>
        </p:nvPicPr>
        <p:blipFill>
          <a:blip r:embed="rId4">
            <a:alphaModFix/>
          </a:blip>
          <a:stretch>
            <a:fillRect/>
          </a:stretch>
        </p:blipFill>
        <p:spPr>
          <a:xfrm>
            <a:off x="4688525" y="1579375"/>
            <a:ext cx="3974468" cy="2984975"/>
          </a:xfrm>
          <a:prstGeom prst="rect">
            <a:avLst/>
          </a:prstGeom>
          <a:noFill/>
          <a:ln>
            <a:noFill/>
          </a:ln>
        </p:spPr>
      </p:pic>
      <p:sp>
        <p:nvSpPr>
          <p:cNvPr id="205" name="Google Shape;205;p25"/>
          <p:cNvSpPr txBox="1"/>
          <p:nvPr/>
        </p:nvSpPr>
        <p:spPr>
          <a:xfrm>
            <a:off x="693450" y="123435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800">
                <a:solidFill>
                  <a:schemeClr val="dk2"/>
                </a:solidFill>
                <a:latin typeface="Calibri"/>
                <a:ea typeface="Calibri"/>
                <a:cs typeface="Calibri"/>
                <a:sym typeface="Calibri"/>
              </a:rPr>
              <a:t>Results: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819150" y="612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Horizontal Scaling</a:t>
            </a:r>
            <a:endParaRPr/>
          </a:p>
        </p:txBody>
      </p:sp>
      <p:pic>
        <p:nvPicPr>
          <p:cNvPr id="211" name="Google Shape;211;p26"/>
          <p:cNvPicPr preferRelativeResize="0"/>
          <p:nvPr/>
        </p:nvPicPr>
        <p:blipFill>
          <a:blip r:embed="rId3">
            <a:alphaModFix/>
          </a:blip>
          <a:stretch>
            <a:fillRect/>
          </a:stretch>
        </p:blipFill>
        <p:spPr>
          <a:xfrm>
            <a:off x="2566300" y="1782275"/>
            <a:ext cx="3819525" cy="2762250"/>
          </a:xfrm>
          <a:prstGeom prst="rect">
            <a:avLst/>
          </a:prstGeom>
          <a:noFill/>
          <a:ln>
            <a:noFill/>
          </a:ln>
        </p:spPr>
      </p:pic>
      <p:sp>
        <p:nvSpPr>
          <p:cNvPr id="212" name="Google Shape;212;p26"/>
          <p:cNvSpPr txBox="1"/>
          <p:nvPr/>
        </p:nvSpPr>
        <p:spPr>
          <a:xfrm>
            <a:off x="819150" y="1225375"/>
            <a:ext cx="7113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latin typeface="Calibri"/>
                <a:ea typeface="Calibri"/>
                <a:cs typeface="Calibri"/>
                <a:sym typeface="Calibri"/>
              </a:rPr>
              <a:t>Increasing # of m5 instances to 2, 4, and 8.</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819150" y="4687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Vertical Scaling</a:t>
            </a:r>
            <a:endParaRPr/>
          </a:p>
        </p:txBody>
      </p:sp>
      <p:sp>
        <p:nvSpPr>
          <p:cNvPr id="218" name="Google Shape;218;p27"/>
          <p:cNvSpPr txBox="1"/>
          <p:nvPr/>
        </p:nvSpPr>
        <p:spPr>
          <a:xfrm>
            <a:off x="855050" y="1072850"/>
            <a:ext cx="7732500" cy="93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Calibri"/>
                <a:ea typeface="Calibri"/>
                <a:cs typeface="Calibri"/>
                <a:sym typeface="Calibri"/>
              </a:rPr>
              <a:t>Increasing the size of each m5 instance.</a:t>
            </a:r>
            <a:endParaRPr sz="1800">
              <a:solidFill>
                <a:schemeClr val="dk2"/>
              </a:solidFill>
              <a:latin typeface="Calibri"/>
              <a:ea typeface="Calibri"/>
              <a:cs typeface="Calibri"/>
              <a:sym typeface="Calibri"/>
            </a:endParaRPr>
          </a:p>
          <a:p>
            <a:pPr indent="-342900" lvl="0" marL="457200" rtl="0" algn="l">
              <a:lnSpc>
                <a:spcPct val="115000"/>
              </a:lnSpc>
              <a:spcBef>
                <a:spcPts val="12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m5.</a:t>
            </a:r>
            <a:r>
              <a:rPr b="1" lang="en" sz="1800">
                <a:solidFill>
                  <a:schemeClr val="dk2"/>
                </a:solidFill>
                <a:latin typeface="Calibri"/>
                <a:ea typeface="Calibri"/>
                <a:cs typeface="Calibri"/>
                <a:sym typeface="Calibri"/>
              </a:rPr>
              <a:t>large</a:t>
            </a:r>
            <a:r>
              <a:rPr lang="en" sz="1800">
                <a:solidFill>
                  <a:schemeClr val="dk2"/>
                </a:solidFill>
                <a:latin typeface="Calibri"/>
                <a:ea typeface="Calibri"/>
                <a:cs typeface="Calibri"/>
                <a:sym typeface="Calibri"/>
              </a:rPr>
              <a:t> (initial) →  m5.</a:t>
            </a:r>
            <a:r>
              <a:rPr b="1" lang="en" sz="1800">
                <a:solidFill>
                  <a:schemeClr val="dk2"/>
                </a:solidFill>
                <a:latin typeface="Calibri"/>
                <a:ea typeface="Calibri"/>
                <a:cs typeface="Calibri"/>
                <a:sym typeface="Calibri"/>
              </a:rPr>
              <a:t>xlarge</a:t>
            </a:r>
            <a:r>
              <a:rPr lang="en" sz="1800">
                <a:solidFill>
                  <a:schemeClr val="dk2"/>
                </a:solidFill>
                <a:latin typeface="Calibri"/>
                <a:ea typeface="Calibri"/>
                <a:cs typeface="Calibri"/>
                <a:sym typeface="Calibri"/>
              </a:rPr>
              <a:t> →  m5.</a:t>
            </a:r>
            <a:r>
              <a:rPr b="1" lang="en" sz="1800">
                <a:solidFill>
                  <a:schemeClr val="dk2"/>
                </a:solidFill>
                <a:latin typeface="Calibri"/>
                <a:ea typeface="Calibri"/>
                <a:cs typeface="Calibri"/>
                <a:sym typeface="Calibri"/>
              </a:rPr>
              <a:t>2xlarge</a:t>
            </a:r>
            <a:r>
              <a:rPr lang="en" sz="1800">
                <a:solidFill>
                  <a:schemeClr val="dk2"/>
                </a:solidFill>
                <a:latin typeface="Calibri"/>
                <a:ea typeface="Calibri"/>
                <a:cs typeface="Calibri"/>
                <a:sym typeface="Calibri"/>
              </a:rPr>
              <a:t> → m5.</a:t>
            </a:r>
            <a:r>
              <a:rPr b="1" lang="en" sz="1800">
                <a:solidFill>
                  <a:schemeClr val="dk2"/>
                </a:solidFill>
                <a:latin typeface="Calibri"/>
                <a:ea typeface="Calibri"/>
                <a:cs typeface="Calibri"/>
                <a:sym typeface="Calibri"/>
              </a:rPr>
              <a:t>4xlarge</a:t>
            </a:r>
            <a:r>
              <a:rPr lang="en" sz="1800">
                <a:solidFill>
                  <a:schemeClr val="dk2"/>
                </a:solidFill>
                <a:latin typeface="Calibri"/>
                <a:ea typeface="Calibri"/>
                <a:cs typeface="Calibri"/>
                <a:sym typeface="Calibri"/>
              </a:rPr>
              <a:t> → m5.</a:t>
            </a:r>
            <a:r>
              <a:rPr b="1" lang="en" sz="1800">
                <a:solidFill>
                  <a:schemeClr val="dk2"/>
                </a:solidFill>
                <a:latin typeface="Calibri"/>
                <a:ea typeface="Calibri"/>
                <a:cs typeface="Calibri"/>
                <a:sym typeface="Calibri"/>
              </a:rPr>
              <a:t>8xlarge</a:t>
            </a:r>
            <a:endParaRPr b="1" sz="1800">
              <a:solidFill>
                <a:schemeClr val="dk2"/>
              </a:solidFill>
              <a:latin typeface="Calibri"/>
              <a:ea typeface="Calibri"/>
              <a:cs typeface="Calibri"/>
              <a:sym typeface="Calibri"/>
            </a:endParaRPr>
          </a:p>
        </p:txBody>
      </p:sp>
      <p:pic>
        <p:nvPicPr>
          <p:cNvPr id="219" name="Google Shape;219;p27"/>
          <p:cNvPicPr preferRelativeResize="0"/>
          <p:nvPr/>
        </p:nvPicPr>
        <p:blipFill>
          <a:blip r:embed="rId3">
            <a:alphaModFix/>
          </a:blip>
          <a:stretch>
            <a:fillRect/>
          </a:stretch>
        </p:blipFill>
        <p:spPr>
          <a:xfrm>
            <a:off x="726725" y="2078850"/>
            <a:ext cx="3466920" cy="2598350"/>
          </a:xfrm>
          <a:prstGeom prst="rect">
            <a:avLst/>
          </a:prstGeom>
          <a:noFill/>
          <a:ln>
            <a:noFill/>
          </a:ln>
        </p:spPr>
      </p:pic>
      <p:pic>
        <p:nvPicPr>
          <p:cNvPr id="220" name="Google Shape;220;p27"/>
          <p:cNvPicPr preferRelativeResize="0"/>
          <p:nvPr/>
        </p:nvPicPr>
        <p:blipFill>
          <a:blip r:embed="rId4">
            <a:alphaModFix/>
          </a:blip>
          <a:stretch>
            <a:fillRect/>
          </a:stretch>
        </p:blipFill>
        <p:spPr>
          <a:xfrm>
            <a:off x="4857925" y="2075525"/>
            <a:ext cx="3466925" cy="26049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8"/>
          <p:cNvPicPr preferRelativeResize="0"/>
          <p:nvPr/>
        </p:nvPicPr>
        <p:blipFill>
          <a:blip r:embed="rId3">
            <a:alphaModFix/>
          </a:blip>
          <a:stretch>
            <a:fillRect/>
          </a:stretch>
        </p:blipFill>
        <p:spPr>
          <a:xfrm>
            <a:off x="3006875" y="381650"/>
            <a:ext cx="2896950" cy="4380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819150" y="486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 Analysis💸</a:t>
            </a:r>
            <a:endParaRPr/>
          </a:p>
        </p:txBody>
      </p:sp>
      <p:sp>
        <p:nvSpPr>
          <p:cNvPr id="231" name="Google Shape;231;p29"/>
          <p:cNvSpPr txBox="1"/>
          <p:nvPr>
            <p:ph idx="1" type="body"/>
          </p:nvPr>
        </p:nvSpPr>
        <p:spPr>
          <a:xfrm>
            <a:off x="647400" y="1125375"/>
            <a:ext cx="3685500" cy="48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t>Horizontal Scaling</a:t>
            </a:r>
            <a:endParaRPr b="1" sz="1500"/>
          </a:p>
        </p:txBody>
      </p:sp>
      <p:sp>
        <p:nvSpPr>
          <p:cNvPr id="232" name="Google Shape;232;p29"/>
          <p:cNvSpPr txBox="1"/>
          <p:nvPr/>
        </p:nvSpPr>
        <p:spPr>
          <a:xfrm>
            <a:off x="4721225" y="1125375"/>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500">
                <a:solidFill>
                  <a:schemeClr val="dk2"/>
                </a:solidFill>
                <a:latin typeface="Calibri"/>
                <a:ea typeface="Calibri"/>
                <a:cs typeface="Calibri"/>
                <a:sym typeface="Calibri"/>
              </a:rPr>
              <a:t>Vertical</a:t>
            </a:r>
            <a:r>
              <a:rPr b="1" lang="en" sz="1500">
                <a:solidFill>
                  <a:schemeClr val="dk2"/>
                </a:solidFill>
                <a:latin typeface="Calibri"/>
                <a:ea typeface="Calibri"/>
                <a:cs typeface="Calibri"/>
                <a:sym typeface="Calibri"/>
              </a:rPr>
              <a:t> Scaling</a:t>
            </a:r>
            <a:endParaRPr b="1" sz="1500">
              <a:solidFill>
                <a:schemeClr val="dk2"/>
              </a:solidFill>
              <a:latin typeface="Calibri"/>
              <a:ea typeface="Calibri"/>
              <a:cs typeface="Calibri"/>
              <a:sym typeface="Calibri"/>
            </a:endParaRPr>
          </a:p>
        </p:txBody>
      </p:sp>
      <p:graphicFrame>
        <p:nvGraphicFramePr>
          <p:cNvPr id="233" name="Google Shape;233;p29"/>
          <p:cNvGraphicFramePr/>
          <p:nvPr/>
        </p:nvGraphicFramePr>
        <p:xfrm>
          <a:off x="601888" y="1609880"/>
          <a:ext cx="3000000" cy="3000000"/>
        </p:xfrm>
        <a:graphic>
          <a:graphicData uri="http://schemas.openxmlformats.org/drawingml/2006/table">
            <a:tbl>
              <a:tblPr>
                <a:noFill/>
                <a:tableStyleId>{CCC8D72A-DCF6-4A16-AEE8-12AB39BD3D50}</a:tableStyleId>
              </a:tblPr>
              <a:tblGrid>
                <a:gridCol w="1091725"/>
                <a:gridCol w="1111400"/>
                <a:gridCol w="855575"/>
                <a:gridCol w="717825"/>
              </a:tblGrid>
              <a:tr h="640050">
                <a:tc>
                  <a:txBody>
                    <a:bodyPr/>
                    <a:lstStyle/>
                    <a:p>
                      <a:pPr indent="0" lvl="0" marL="0" rtl="0" algn="l">
                        <a:spcBef>
                          <a:spcPts val="0"/>
                        </a:spcBef>
                        <a:spcAft>
                          <a:spcPts val="0"/>
                        </a:spcAft>
                        <a:buNone/>
                      </a:pPr>
                      <a:r>
                        <a:rPr b="1" lang="en" sz="1000"/>
                        <a:t>Type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Time until failure (sec)</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Phase / Arrival rate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Cost</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r>
              <a:tr h="408850">
                <a:tc>
                  <a:txBody>
                    <a:bodyPr/>
                    <a:lstStyle/>
                    <a:p>
                      <a:pPr indent="0" lvl="0" marL="0" rtl="0" algn="l">
                        <a:spcBef>
                          <a:spcPts val="0"/>
                        </a:spcBef>
                        <a:spcAft>
                          <a:spcPts val="0"/>
                        </a:spcAft>
                        <a:buNone/>
                      </a:pPr>
                      <a:r>
                        <a:rPr lang="en" sz="1100">
                          <a:latin typeface="Ubuntu"/>
                          <a:ea typeface="Ubuntu"/>
                          <a:cs typeface="Ubuntu"/>
                          <a:sym typeface="Ubuntu"/>
                        </a:rPr>
                        <a:t>m5.large (baseline)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240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5/32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$0.096</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2x </a:t>
                      </a:r>
                      <a:r>
                        <a:rPr lang="en" sz="1100">
                          <a:latin typeface="Ubuntu"/>
                          <a:ea typeface="Ubuntu"/>
                          <a:cs typeface="Ubuntu"/>
                          <a:sym typeface="Ubuntu"/>
                        </a:rPr>
                        <a:t>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300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6/64</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$0.192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4x</a:t>
                      </a:r>
                      <a:r>
                        <a:rPr lang="en" sz="1100">
                          <a:latin typeface="Ubuntu"/>
                          <a:ea typeface="Ubuntu"/>
                          <a:cs typeface="Ubuntu"/>
                          <a:sym typeface="Ubuntu"/>
                        </a:rPr>
                        <a:t> 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360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7/128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$0.384</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8x </a:t>
                      </a:r>
                      <a:r>
                        <a:rPr lang="en" sz="1100">
                          <a:latin typeface="Ubuntu"/>
                          <a:ea typeface="Ubuntu"/>
                          <a:cs typeface="Ubuntu"/>
                          <a:sym typeface="Ubuntu"/>
                        </a:rPr>
                        <a:t>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360ish?</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7/128+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$0.768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234" name="Google Shape;234;p29"/>
          <p:cNvGraphicFramePr/>
          <p:nvPr/>
        </p:nvGraphicFramePr>
        <p:xfrm>
          <a:off x="4837863" y="1609880"/>
          <a:ext cx="3000000" cy="3000000"/>
        </p:xfrm>
        <a:graphic>
          <a:graphicData uri="http://schemas.openxmlformats.org/drawingml/2006/table">
            <a:tbl>
              <a:tblPr>
                <a:noFill/>
                <a:tableStyleId>{CCC8D72A-DCF6-4A16-AEE8-12AB39BD3D50}</a:tableStyleId>
              </a:tblPr>
              <a:tblGrid>
                <a:gridCol w="1091725"/>
                <a:gridCol w="1111400"/>
                <a:gridCol w="855575"/>
                <a:gridCol w="717825"/>
              </a:tblGrid>
              <a:tr h="640050">
                <a:tc>
                  <a:txBody>
                    <a:bodyPr/>
                    <a:lstStyle/>
                    <a:p>
                      <a:pPr indent="0" lvl="0" marL="0" rtl="0" algn="l">
                        <a:spcBef>
                          <a:spcPts val="0"/>
                        </a:spcBef>
                        <a:spcAft>
                          <a:spcPts val="0"/>
                        </a:spcAft>
                        <a:buNone/>
                      </a:pPr>
                      <a:r>
                        <a:rPr b="1" lang="en" sz="1000"/>
                        <a:t>Type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Time until failure (sec)</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Phase / Arrival rate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Cost</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r>
              <a:tr h="408850">
                <a:tc>
                  <a:txBody>
                    <a:bodyPr/>
                    <a:lstStyle/>
                    <a:p>
                      <a:pPr indent="0" lvl="0" marL="0" rtl="0" algn="l">
                        <a:spcBef>
                          <a:spcPts val="0"/>
                        </a:spcBef>
                        <a:spcAft>
                          <a:spcPts val="0"/>
                        </a:spcAft>
                        <a:buNone/>
                      </a:pPr>
                      <a:r>
                        <a:rPr lang="en" sz="1100">
                          <a:latin typeface="Ubuntu"/>
                          <a:ea typeface="Ubuntu"/>
                          <a:cs typeface="Ubuntu"/>
                          <a:sym typeface="Ubuntu"/>
                        </a:rPr>
                        <a:t>m5.</a:t>
                      </a:r>
                      <a:r>
                        <a:rPr b="1" lang="en" sz="1100">
                          <a:latin typeface="Ubuntu"/>
                          <a:ea typeface="Ubuntu"/>
                          <a:cs typeface="Ubuntu"/>
                          <a:sym typeface="Ubuntu"/>
                        </a:rPr>
                        <a:t>xlarge</a:t>
                      </a:r>
                      <a:endParaRPr b="1"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300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6/64</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$0.192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lang="en" sz="1100">
                          <a:latin typeface="Ubuntu"/>
                          <a:ea typeface="Ubuntu"/>
                          <a:cs typeface="Ubuntu"/>
                          <a:sym typeface="Ubuntu"/>
                        </a:rPr>
                        <a:t>m5.</a:t>
                      </a:r>
                      <a:r>
                        <a:rPr b="1" lang="en" sz="1100">
                          <a:latin typeface="Ubuntu"/>
                          <a:ea typeface="Ubuntu"/>
                          <a:cs typeface="Ubuntu"/>
                          <a:sym typeface="Ubuntu"/>
                        </a:rPr>
                        <a:t>2xlarge</a:t>
                      </a:r>
                      <a:endParaRPr b="1"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360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7/128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$0.384</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lang="en" sz="1100">
                          <a:latin typeface="Ubuntu"/>
                          <a:ea typeface="Ubuntu"/>
                          <a:cs typeface="Ubuntu"/>
                          <a:sym typeface="Ubuntu"/>
                        </a:rPr>
                        <a:t>m5.</a:t>
                      </a:r>
                      <a:r>
                        <a:rPr b="1" lang="en" sz="1100">
                          <a:latin typeface="Ubuntu"/>
                          <a:ea typeface="Ubuntu"/>
                          <a:cs typeface="Ubuntu"/>
                          <a:sym typeface="Ubuntu"/>
                        </a:rPr>
                        <a:t>4xlarge</a:t>
                      </a:r>
                      <a:endParaRPr b="1"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360ish?</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7/128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$0.768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lang="en" sz="1100">
                          <a:latin typeface="Ubuntu"/>
                          <a:ea typeface="Ubuntu"/>
                          <a:cs typeface="Ubuntu"/>
                          <a:sym typeface="Ubuntu"/>
                        </a:rPr>
                        <a:t>m5.</a:t>
                      </a:r>
                      <a:r>
                        <a:rPr b="1" lang="en" sz="1100">
                          <a:latin typeface="Ubuntu"/>
                          <a:ea typeface="Ubuntu"/>
                          <a:cs typeface="Ubuntu"/>
                          <a:sym typeface="Ubuntu"/>
                        </a:rPr>
                        <a:t>8xlarge</a:t>
                      </a:r>
                      <a:endParaRPr b="1"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N/A</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7/128++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$1.536</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819150" y="612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Pushing Further</a:t>
            </a:r>
            <a:endParaRPr/>
          </a:p>
        </p:txBody>
      </p:sp>
      <p:sp>
        <p:nvSpPr>
          <p:cNvPr id="240" name="Google Shape;240;p30"/>
          <p:cNvSpPr txBox="1"/>
          <p:nvPr/>
        </p:nvSpPr>
        <p:spPr>
          <a:xfrm>
            <a:off x="819150" y="1225375"/>
            <a:ext cx="7113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latin typeface="Calibri"/>
                <a:ea typeface="Calibri"/>
                <a:cs typeface="Calibri"/>
                <a:sym typeface="Calibri"/>
              </a:rPr>
              <a:t>Combining vertical scaling and code optimizations</a:t>
            </a:r>
            <a:endParaRPr>
              <a:latin typeface="Calibri"/>
              <a:ea typeface="Calibri"/>
              <a:cs typeface="Calibri"/>
              <a:sym typeface="Calibri"/>
            </a:endParaRPr>
          </a:p>
        </p:txBody>
      </p:sp>
      <p:pic>
        <p:nvPicPr>
          <p:cNvPr id="241" name="Google Shape;241;p30"/>
          <p:cNvPicPr preferRelativeResize="0"/>
          <p:nvPr/>
        </p:nvPicPr>
        <p:blipFill>
          <a:blip r:embed="rId3">
            <a:alphaModFix/>
          </a:blip>
          <a:stretch>
            <a:fillRect/>
          </a:stretch>
        </p:blipFill>
        <p:spPr>
          <a:xfrm>
            <a:off x="2494750" y="1877000"/>
            <a:ext cx="3762375" cy="2762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819150" y="612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Pushing Further</a:t>
            </a:r>
            <a:endParaRPr/>
          </a:p>
        </p:txBody>
      </p:sp>
      <p:sp>
        <p:nvSpPr>
          <p:cNvPr id="247" name="Google Shape;247;p31"/>
          <p:cNvSpPr txBox="1"/>
          <p:nvPr/>
        </p:nvSpPr>
        <p:spPr>
          <a:xfrm>
            <a:off x="819150" y="1225375"/>
            <a:ext cx="7113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latin typeface="Calibri"/>
                <a:ea typeface="Calibri"/>
                <a:cs typeface="Calibri"/>
                <a:sym typeface="Calibri"/>
              </a:rPr>
              <a:t>Combining horizontal scaling, vertical scaling, and code optimizations</a:t>
            </a:r>
            <a:endParaRPr>
              <a:latin typeface="Calibri"/>
              <a:ea typeface="Calibri"/>
              <a:cs typeface="Calibri"/>
              <a:sym typeface="Calibri"/>
            </a:endParaRPr>
          </a:p>
        </p:txBody>
      </p:sp>
      <p:pic>
        <p:nvPicPr>
          <p:cNvPr id="248" name="Google Shape;248;p31"/>
          <p:cNvPicPr preferRelativeResize="0"/>
          <p:nvPr/>
        </p:nvPicPr>
        <p:blipFill>
          <a:blip r:embed="rId3">
            <a:alphaModFix/>
          </a:blip>
          <a:stretch>
            <a:fillRect/>
          </a:stretch>
        </p:blipFill>
        <p:spPr>
          <a:xfrm>
            <a:off x="2433853" y="1876722"/>
            <a:ext cx="3819525" cy="2762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819150" y="486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 Analysis💸</a:t>
            </a:r>
            <a:endParaRPr/>
          </a:p>
        </p:txBody>
      </p:sp>
      <p:sp>
        <p:nvSpPr>
          <p:cNvPr id="254" name="Google Shape;254;p32"/>
          <p:cNvSpPr txBox="1"/>
          <p:nvPr>
            <p:ph idx="1" type="body"/>
          </p:nvPr>
        </p:nvSpPr>
        <p:spPr>
          <a:xfrm>
            <a:off x="2757575" y="1125370"/>
            <a:ext cx="3685500" cy="48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t>Horizontal + Vertical Scaling</a:t>
            </a:r>
            <a:endParaRPr b="1" sz="1500"/>
          </a:p>
        </p:txBody>
      </p:sp>
      <p:graphicFrame>
        <p:nvGraphicFramePr>
          <p:cNvPr id="255" name="Google Shape;255;p32"/>
          <p:cNvGraphicFramePr/>
          <p:nvPr/>
        </p:nvGraphicFramePr>
        <p:xfrm>
          <a:off x="2712063" y="1609875"/>
          <a:ext cx="3000000" cy="3000000"/>
        </p:xfrm>
        <a:graphic>
          <a:graphicData uri="http://schemas.openxmlformats.org/drawingml/2006/table">
            <a:tbl>
              <a:tblPr>
                <a:noFill/>
                <a:tableStyleId>{CCC8D72A-DCF6-4A16-AEE8-12AB39BD3D50}</a:tableStyleId>
              </a:tblPr>
              <a:tblGrid>
                <a:gridCol w="846900"/>
                <a:gridCol w="846900"/>
                <a:gridCol w="862175"/>
                <a:gridCol w="663700"/>
                <a:gridCol w="1271225"/>
              </a:tblGrid>
              <a:tr h="640050">
                <a:tc>
                  <a:txBody>
                    <a:bodyPr/>
                    <a:lstStyle/>
                    <a:p>
                      <a:pPr indent="0" lvl="0" marL="0" rtl="0" algn="l">
                        <a:spcBef>
                          <a:spcPts val="0"/>
                        </a:spcBef>
                        <a:spcAft>
                          <a:spcPts val="0"/>
                        </a:spcAft>
                        <a:buNone/>
                      </a:pPr>
                      <a:r>
                        <a:rPr b="1" lang="en" sz="1000"/>
                        <a:t>App </a:t>
                      </a:r>
                      <a:r>
                        <a:rPr b="1" lang="en" sz="1000"/>
                        <a:t>Type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DB Type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Time until failure (sec)</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Phase / Arrival rate</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Cost</a:t>
                      </a:r>
                      <a:endParaRPr b="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r>
              <a:tr h="408850">
                <a:tc>
                  <a:txBody>
                    <a:bodyPr/>
                    <a:lstStyle/>
                    <a:p>
                      <a:pPr indent="0" lvl="0" marL="0" rtl="0" algn="l">
                        <a:spcBef>
                          <a:spcPts val="0"/>
                        </a:spcBef>
                        <a:spcAft>
                          <a:spcPts val="0"/>
                        </a:spcAft>
                        <a:buNone/>
                      </a:pPr>
                      <a:r>
                        <a:rPr lang="en" sz="1100">
                          <a:latin typeface="Ubuntu"/>
                          <a:ea typeface="Ubuntu"/>
                          <a:cs typeface="Ubuntu"/>
                          <a:sym typeface="Ubuntu"/>
                        </a:rPr>
                        <a:t>m5.large (baseline)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240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5/32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$0.096 + $0.178 = $0.274</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8x </a:t>
                      </a:r>
                      <a:r>
                        <a:rPr lang="en" sz="1100">
                          <a:latin typeface="Ubuntu"/>
                          <a:ea typeface="Ubuntu"/>
                          <a:cs typeface="Ubuntu"/>
                          <a:sym typeface="Ubuntu"/>
                        </a:rPr>
                        <a:t>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m5.large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420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8/256</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a:t>
                      </a:r>
                      <a:r>
                        <a:rPr lang="en" sz="1100">
                          <a:latin typeface="Ubuntu"/>
                          <a:ea typeface="Ubuntu"/>
                          <a:cs typeface="Ubuntu"/>
                          <a:sym typeface="Ubuntu"/>
                        </a:rPr>
                        <a:t>0.768</a:t>
                      </a:r>
                      <a:r>
                        <a:rPr lang="en" sz="1100">
                          <a:latin typeface="Ubuntu"/>
                          <a:ea typeface="Ubuntu"/>
                          <a:cs typeface="Ubuntu"/>
                          <a:sym typeface="Ubuntu"/>
                        </a:rPr>
                        <a:t> + $0.178 = $0.946</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8</a:t>
                      </a:r>
                      <a:r>
                        <a:rPr b="1" lang="en" sz="1100">
                          <a:latin typeface="Ubuntu"/>
                          <a:ea typeface="Ubuntu"/>
                          <a:cs typeface="Ubuntu"/>
                          <a:sym typeface="Ubuntu"/>
                        </a:rPr>
                        <a:t>x</a:t>
                      </a:r>
                      <a:r>
                        <a:rPr lang="en" sz="1100">
                          <a:latin typeface="Ubuntu"/>
                          <a:ea typeface="Ubuntu"/>
                          <a:cs typeface="Ubuntu"/>
                          <a:sym typeface="Ubuntu"/>
                        </a:rPr>
                        <a:t> m5.xlarge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m5.2xlarge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480</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9/512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a:t>
                      </a:r>
                      <a:r>
                        <a:rPr lang="en" sz="1100">
                          <a:latin typeface="Ubuntu"/>
                          <a:ea typeface="Ubuntu"/>
                          <a:cs typeface="Ubuntu"/>
                          <a:sym typeface="Ubuntu"/>
                        </a:rPr>
                        <a:t>1.536 + $0.712 = $2.248</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700">
                <a:tc>
                  <a:txBody>
                    <a:bodyPr/>
                    <a:lstStyle/>
                    <a:p>
                      <a:pPr indent="0" lvl="0" marL="0" rtl="0" algn="l">
                        <a:spcBef>
                          <a:spcPts val="0"/>
                        </a:spcBef>
                        <a:spcAft>
                          <a:spcPts val="0"/>
                        </a:spcAft>
                        <a:buNone/>
                      </a:pPr>
                      <a:r>
                        <a:rPr b="1" lang="en" sz="1100">
                          <a:latin typeface="Ubuntu"/>
                          <a:ea typeface="Ubuntu"/>
                          <a:cs typeface="Ubuntu"/>
                          <a:sym typeface="Ubuntu"/>
                        </a:rPr>
                        <a:t>8x </a:t>
                      </a:r>
                      <a:r>
                        <a:rPr lang="en" sz="1100">
                          <a:latin typeface="Ubuntu"/>
                          <a:ea typeface="Ubuntu"/>
                          <a:cs typeface="Ubuntu"/>
                          <a:sym typeface="Ubuntu"/>
                        </a:rPr>
                        <a:t>m5.2xlarge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m5.4xlarge</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540ish</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9</a:t>
                      </a:r>
                      <a:r>
                        <a:rPr lang="en" sz="1100">
                          <a:latin typeface="Ubuntu"/>
                          <a:ea typeface="Ubuntu"/>
                          <a:cs typeface="Ubuntu"/>
                          <a:sym typeface="Ubuntu"/>
                        </a:rPr>
                        <a:t>/512+</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Ubuntu"/>
                          <a:ea typeface="Ubuntu"/>
                          <a:cs typeface="Ubuntu"/>
                          <a:sym typeface="Ubuntu"/>
                        </a:rPr>
                        <a:t>$3.072 + $1.424 = $4.496</a:t>
                      </a:r>
                      <a:endParaRPr sz="1100">
                        <a:latin typeface="Ubuntu"/>
                        <a:ea typeface="Ubuntu"/>
                        <a:cs typeface="Ubuntu"/>
                        <a:sym typeface="Ubuntu"/>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261" name="Google Shape;261;p33"/>
          <p:cNvSpPr txBox="1"/>
          <p:nvPr>
            <p:ph idx="1" type="body"/>
          </p:nvPr>
        </p:nvSpPr>
        <p:spPr>
          <a:xfrm>
            <a:off x="4364575" y="1708950"/>
            <a:ext cx="2965200" cy="2448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t/>
            </a:r>
            <a:endParaRPr sz="2000" u="sng"/>
          </a:p>
          <a:p>
            <a:pPr indent="0" lvl="0" marL="0" rtl="0" algn="l">
              <a:spcBef>
                <a:spcPts val="1200"/>
              </a:spcBef>
              <a:spcAft>
                <a:spcPts val="0"/>
              </a:spcAft>
              <a:buNone/>
            </a:pPr>
            <a:r>
              <a:rPr lang="en" sz="2000">
                <a:latin typeface="Times New Roman"/>
                <a:ea typeface="Times New Roman"/>
                <a:cs typeface="Times New Roman"/>
                <a:sym typeface="Times New Roman"/>
              </a:rPr>
              <a:t>built a web service</a:t>
            </a:r>
            <a:endParaRPr sz="2000">
              <a:latin typeface="Times New Roman"/>
              <a:ea typeface="Times New Roman"/>
              <a:cs typeface="Times New Roman"/>
              <a:sym typeface="Times New Roman"/>
            </a:endParaRPr>
          </a:p>
          <a:p>
            <a:pPr indent="0" lvl="0" marL="0" rtl="0" algn="l">
              <a:spcBef>
                <a:spcPts val="1200"/>
              </a:spcBef>
              <a:spcAft>
                <a:spcPts val="0"/>
              </a:spcAft>
              <a:buNone/>
            </a:pPr>
            <a:r>
              <a:rPr lang="en" sz="2000">
                <a:latin typeface="Times New Roman"/>
                <a:ea typeface="Times New Roman"/>
                <a:cs typeface="Times New Roman"/>
                <a:sym typeface="Times New Roman"/>
              </a:rPr>
              <a:t>load testing is very hard</a:t>
            </a:r>
            <a:endParaRPr sz="2000">
              <a:latin typeface="Times New Roman"/>
              <a:ea typeface="Times New Roman"/>
              <a:cs typeface="Times New Roman"/>
              <a:sym typeface="Times New Roman"/>
            </a:endParaRPr>
          </a:p>
          <a:p>
            <a:pPr indent="0" lvl="0" marL="0" rtl="0" algn="l">
              <a:spcBef>
                <a:spcPts val="1200"/>
              </a:spcBef>
              <a:spcAft>
                <a:spcPts val="0"/>
              </a:spcAft>
              <a:buNone/>
            </a:pPr>
            <a:r>
              <a:rPr lang="en" sz="2000">
                <a:latin typeface="Times New Roman"/>
                <a:ea typeface="Times New Roman"/>
                <a:cs typeface="Times New Roman"/>
                <a:sym typeface="Times New Roman"/>
              </a:rPr>
              <a:t>we learned a great deal</a:t>
            </a:r>
            <a:endParaRPr sz="2000">
              <a:latin typeface="Times New Roman"/>
              <a:ea typeface="Times New Roman"/>
              <a:cs typeface="Times New Roman"/>
              <a:sym typeface="Times New Roman"/>
            </a:endParaRPr>
          </a:p>
          <a:p>
            <a:pPr indent="0" lvl="0" marL="457200" rtl="0" algn="ctr">
              <a:spcBef>
                <a:spcPts val="1200"/>
              </a:spcBef>
              <a:spcAft>
                <a:spcPts val="0"/>
              </a:spcAft>
              <a:buNone/>
            </a:pPr>
            <a:r>
              <a:rPr lang="en" sz="2000">
                <a:latin typeface="Times New Roman"/>
                <a:ea typeface="Times New Roman"/>
                <a:cs typeface="Times New Roman"/>
                <a:sym typeface="Times New Roman"/>
              </a:rPr>
              <a:t>- </a:t>
            </a:r>
            <a:r>
              <a:rPr lang="en" sz="2000">
                <a:latin typeface="Times New Roman"/>
                <a:ea typeface="Times New Roman"/>
                <a:cs typeface="Times New Roman"/>
                <a:sym typeface="Times New Roman"/>
              </a:rPr>
              <a:t>rupi kaur</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262" name="Google Shape;262;p33"/>
          <p:cNvPicPr preferRelativeResize="0"/>
          <p:nvPr/>
        </p:nvPicPr>
        <p:blipFill rotWithShape="1">
          <a:blip r:embed="rId3">
            <a:alphaModFix/>
          </a:blip>
          <a:srcRect b="2969" l="0" r="0" t="0"/>
          <a:stretch/>
        </p:blipFill>
        <p:spPr>
          <a:xfrm>
            <a:off x="1925200" y="1836800"/>
            <a:ext cx="1644401" cy="22512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 (Not Clickbait)</a:t>
            </a:r>
            <a:endParaRPr/>
          </a:p>
        </p:txBody>
      </p:sp>
      <p:sp>
        <p:nvSpPr>
          <p:cNvPr id="268" name="Google Shape;268;p34"/>
          <p:cNvSpPr txBox="1"/>
          <p:nvPr>
            <p:ph idx="1" type="body"/>
          </p:nvPr>
        </p:nvSpPr>
        <p:spPr>
          <a:xfrm>
            <a:off x="819150" y="1800200"/>
            <a:ext cx="7505700" cy="2638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Built with </a:t>
            </a:r>
            <a:r>
              <a:rPr b="1" lang="en" sz="1500"/>
              <a:t>Rails</a:t>
            </a:r>
            <a:r>
              <a:rPr lang="en" sz="1500"/>
              <a:t>, deployed with </a:t>
            </a:r>
            <a:r>
              <a:rPr b="1" lang="en" sz="1500"/>
              <a:t>AWS</a:t>
            </a:r>
            <a:r>
              <a:rPr lang="en" sz="1500"/>
              <a:t>, load tested with </a:t>
            </a:r>
            <a:r>
              <a:rPr b="1" lang="en" sz="1500"/>
              <a:t>Tsung</a:t>
            </a:r>
            <a:endParaRPr b="1" sz="1500"/>
          </a:p>
          <a:p>
            <a:pPr indent="-323850" lvl="0" marL="457200" rtl="0" algn="l">
              <a:spcBef>
                <a:spcPts val="0"/>
              </a:spcBef>
              <a:spcAft>
                <a:spcPts val="0"/>
              </a:spcAft>
              <a:buSzPts val="1500"/>
              <a:buChar char="●"/>
            </a:pPr>
            <a:r>
              <a:rPr lang="en" sz="1500"/>
              <a:t>Optimizations:</a:t>
            </a:r>
            <a:endParaRPr sz="1500"/>
          </a:p>
          <a:p>
            <a:pPr indent="-311150" lvl="1" marL="914400" rtl="0" algn="l">
              <a:spcBef>
                <a:spcPts val="0"/>
              </a:spcBef>
              <a:spcAft>
                <a:spcPts val="0"/>
              </a:spcAft>
              <a:buSzPts val="1300"/>
              <a:buChar char="○"/>
            </a:pPr>
            <a:r>
              <a:rPr lang="en" sz="1300"/>
              <a:t>N+1 query optimization ✅</a:t>
            </a:r>
            <a:endParaRPr sz="1300"/>
          </a:p>
          <a:p>
            <a:pPr indent="-311150" lvl="1" marL="914400" rtl="0" algn="l">
              <a:spcBef>
                <a:spcPts val="0"/>
              </a:spcBef>
              <a:spcAft>
                <a:spcPts val="0"/>
              </a:spcAft>
              <a:buSzPts val="1300"/>
              <a:buChar char="○"/>
            </a:pPr>
            <a:r>
              <a:rPr lang="en" sz="1300"/>
              <a:t>Caching  ✅</a:t>
            </a:r>
            <a:endParaRPr sz="1300"/>
          </a:p>
          <a:p>
            <a:pPr indent="-311150" lvl="1" marL="914400" rtl="0" algn="l">
              <a:spcBef>
                <a:spcPts val="0"/>
              </a:spcBef>
              <a:spcAft>
                <a:spcPts val="0"/>
              </a:spcAft>
              <a:buSzPts val="1300"/>
              <a:buChar char="○"/>
            </a:pPr>
            <a:r>
              <a:rPr lang="en" sz="1300"/>
              <a:t>Pagination 😐</a:t>
            </a:r>
            <a:endParaRPr sz="1300"/>
          </a:p>
          <a:p>
            <a:pPr indent="-323850" lvl="0" marL="457200" rtl="0" algn="l">
              <a:spcBef>
                <a:spcPts val="0"/>
              </a:spcBef>
              <a:spcAft>
                <a:spcPts val="0"/>
              </a:spcAft>
              <a:buSzPts val="1500"/>
              <a:buChar char="●"/>
            </a:pPr>
            <a:r>
              <a:rPr b="1" lang="en" sz="1500"/>
              <a:t>Future Goals:</a:t>
            </a:r>
            <a:r>
              <a:rPr lang="en" sz="1500"/>
              <a:t> Better UI, </a:t>
            </a:r>
            <a:r>
              <a:rPr lang="en" sz="1500"/>
              <a:t>Nosql</a:t>
            </a:r>
            <a:r>
              <a:rPr lang="en" sz="1500"/>
              <a:t> Database</a:t>
            </a:r>
            <a:endParaRPr sz="1500"/>
          </a:p>
          <a:p>
            <a:pPr indent="0" lvl="0" marL="9144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